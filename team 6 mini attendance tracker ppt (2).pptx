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media/image1.png" ContentType="image/png"/>
  <Override PartName="/ppt/media/image2.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1024200" y="102168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10"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E3FC3C9-AA59-4FD1-8111-49DC79E24E56}"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17" name="PlaceHolder 1"/>
          <p:cNvSpPr>
            <a:spLocks noGrp="1"/>
          </p:cNvSpPr>
          <p:nvPr>
            <p:ph type="title"/>
          </p:nvPr>
        </p:nvSpPr>
        <p:spPr>
          <a:xfrm>
            <a:off x="1024200" y="102168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18"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027D516-4796-4955-9BEF-4547B8D78E06}"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26" name="PlaceHolder 1"/>
          <p:cNvSpPr>
            <a:spLocks noGrp="1"/>
          </p:cNvSpPr>
          <p:nvPr>
            <p:ph type="title"/>
          </p:nvPr>
        </p:nvSpPr>
        <p:spPr>
          <a:xfrm>
            <a:off x="1024200" y="1021680"/>
            <a:ext cx="971856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27" name="PlaceHolder 2"/>
          <p:cNvSpPr>
            <a:spLocks noGrp="1"/>
          </p:cNvSpPr>
          <p:nvPr>
            <p:ph/>
          </p:nvPr>
        </p:nvSpPr>
        <p:spPr>
          <a:xfrm>
            <a:off x="1024200" y="2286000"/>
            <a:ext cx="9718560" cy="402192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E61E1EE-F74B-4880-8EB3-04F46BCF1C58}"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8" name="Straight Connector 6"/>
          <p:cNvCxnSpPr/>
          <p:nvPr/>
        </p:nvCxnSpPr>
        <p:spPr>
          <a:xfrm flipV="1">
            <a:off x="761760" y="826200"/>
            <a:ext cx="1440" cy="915840"/>
          </a:xfrm>
          <a:prstGeom prst="straightConnector1">
            <a:avLst/>
          </a:prstGeom>
          <a:ln w="19080">
            <a:solidFill>
              <a:srgbClr val="1cade4"/>
            </a:solidFill>
            <a:round/>
          </a:ln>
        </p:spPr>
      </p:cxnSp>
      <p:sp>
        <p:nvSpPr>
          <p:cNvPr id="29"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30"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31" name="PlaceHolder 3"/>
          <p:cNvSpPr>
            <a:spLocks noGrp="1"/>
          </p:cNvSpPr>
          <p:nvPr>
            <p:ph type="ftr" idx="10"/>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2" name="PlaceHolder 4"/>
          <p:cNvSpPr>
            <a:spLocks noGrp="1"/>
          </p:cNvSpPr>
          <p:nvPr>
            <p:ph type="sldNum" idx="11"/>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0664D88B-67B6-4C35-BA4A-648CE71B0932}"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33" name="PlaceHolder 5"/>
          <p:cNvSpPr>
            <a:spLocks noGrp="1"/>
          </p:cNvSpPr>
          <p:nvPr>
            <p:ph type="dt" idx="12"/>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34" name="Straight Connector 6"/>
          <p:cNvCxnSpPr/>
          <p:nvPr/>
        </p:nvCxnSpPr>
        <p:spPr>
          <a:xfrm flipV="1">
            <a:off x="761760" y="826200"/>
            <a:ext cx="1440" cy="915840"/>
          </a:xfrm>
          <a:prstGeom prst="straightConnector1">
            <a:avLst/>
          </a:prstGeom>
          <a:ln w="19080">
            <a:solidFill>
              <a:srgbClr val="1cade4"/>
            </a:solidFill>
            <a:round/>
          </a:ln>
        </p:spPr>
      </p:cxnSp>
      <p:sp>
        <p:nvSpPr>
          <p:cNvPr id="35"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36"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37" name="PlaceHolder 3"/>
          <p:cNvSpPr>
            <a:spLocks noGrp="1"/>
          </p:cNvSpPr>
          <p:nvPr>
            <p:ph type="ftr" idx="13"/>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8" name="PlaceHolder 4"/>
          <p:cNvSpPr>
            <a:spLocks noGrp="1"/>
          </p:cNvSpPr>
          <p:nvPr>
            <p:ph type="sldNum" idx="14"/>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F4318900-D0B3-4F45-8B02-DE3DEC05AC61}"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39" name="PlaceHolder 5"/>
          <p:cNvSpPr>
            <a:spLocks noGrp="1"/>
          </p:cNvSpPr>
          <p:nvPr>
            <p:ph type="dt" idx="15"/>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0" name="Straight Connector 6"/>
          <p:cNvCxnSpPr/>
          <p:nvPr/>
        </p:nvCxnSpPr>
        <p:spPr>
          <a:xfrm flipV="1">
            <a:off x="761760" y="826200"/>
            <a:ext cx="1440" cy="915840"/>
          </a:xfrm>
          <a:prstGeom prst="straightConnector1">
            <a:avLst/>
          </a:prstGeom>
          <a:ln w="19080">
            <a:solidFill>
              <a:srgbClr val="1cade4"/>
            </a:solidFill>
            <a:round/>
          </a:ln>
        </p:spPr>
      </p:cxnSp>
      <p:sp>
        <p:nvSpPr>
          <p:cNvPr id="41"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42"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43" name="PlaceHolder 3"/>
          <p:cNvSpPr>
            <a:spLocks noGrp="1"/>
          </p:cNvSpPr>
          <p:nvPr>
            <p:ph type="ftr" idx="16"/>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4" name="PlaceHolder 4"/>
          <p:cNvSpPr>
            <a:spLocks noGrp="1"/>
          </p:cNvSpPr>
          <p:nvPr>
            <p:ph type="sldNum" idx="17"/>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9CA84043-93AD-47AA-8A05-B7D5F65C9194}"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45" name="PlaceHolder 5"/>
          <p:cNvSpPr>
            <a:spLocks noGrp="1"/>
          </p:cNvSpPr>
          <p:nvPr>
            <p:ph type="dt" idx="18"/>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6" name="Straight Connector 6"/>
          <p:cNvCxnSpPr/>
          <p:nvPr/>
        </p:nvCxnSpPr>
        <p:spPr>
          <a:xfrm flipV="1">
            <a:off x="761760" y="826200"/>
            <a:ext cx="1440" cy="915840"/>
          </a:xfrm>
          <a:prstGeom prst="straightConnector1">
            <a:avLst/>
          </a:prstGeom>
          <a:ln w="19080">
            <a:solidFill>
              <a:srgbClr val="1cade4"/>
            </a:solidFill>
            <a:round/>
          </a:ln>
        </p:spPr>
      </p:cxnSp>
      <p:sp>
        <p:nvSpPr>
          <p:cNvPr id="47" name="PlaceHolder 1"/>
          <p:cNvSpPr>
            <a:spLocks noGrp="1"/>
          </p:cNvSpPr>
          <p:nvPr>
            <p:ph type="title"/>
          </p:nvPr>
        </p:nvSpPr>
        <p:spPr>
          <a:xfrm>
            <a:off x="1024200" y="1197000"/>
            <a:ext cx="9718560" cy="274680"/>
          </a:xfrm>
          <a:prstGeom prst="rect">
            <a:avLst/>
          </a:prstGeom>
          <a:noFill/>
          <a:ln w="0">
            <a:noFill/>
          </a:ln>
        </p:spPr>
        <p:txBody>
          <a:bodyPr lIns="0" rIns="0" tIns="0" bIns="0" anchor="ctr">
            <a:spAutoFit/>
          </a:bodyPr>
          <a:p>
            <a:pPr indent="0">
              <a:lnSpc>
                <a:spcPct val="100000"/>
              </a:lnSpc>
              <a:buNone/>
              <a:tabLst>
                <a:tab algn="l" pos="0"/>
              </a:tabLst>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48"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49" name="PlaceHolder 3"/>
          <p:cNvSpPr>
            <a:spLocks noGrp="1"/>
          </p:cNvSpPr>
          <p:nvPr>
            <p:ph type="ftr" idx="19"/>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0" name="PlaceHolder 4"/>
          <p:cNvSpPr>
            <a:spLocks noGrp="1"/>
          </p:cNvSpPr>
          <p:nvPr>
            <p:ph type="sldNum" idx="20"/>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20E13ABF-7C2C-469D-8C77-FAD855F2E003}"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51" name="PlaceHolder 5"/>
          <p:cNvSpPr>
            <a:spLocks noGrp="1"/>
          </p:cNvSpPr>
          <p:nvPr>
            <p:ph type="dt" idx="21"/>
          </p:nvPr>
        </p:nvSpPr>
        <p:spPr>
          <a:xfrm>
            <a:off x="1024200" y="6470640"/>
            <a:ext cx="2152800" cy="27288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0" name="Straight Connector 6"/>
          <p:cNvCxnSpPr/>
          <p:nvPr/>
        </p:nvCxnSpPr>
        <p:spPr>
          <a:xfrm flipV="1">
            <a:off x="761760" y="826200"/>
            <a:ext cx="1440" cy="915840"/>
          </a:xfrm>
          <a:prstGeom prst="straightConnector1">
            <a:avLst/>
          </a:prstGeom>
          <a:ln w="19080">
            <a:solidFill>
              <a:srgbClr val="1cade4"/>
            </a:solidFill>
            <a:round/>
          </a:ln>
        </p:spPr>
      </p:cxnSp>
      <p:sp>
        <p:nvSpPr>
          <p:cNvPr id="1" name="Rectangle 9"/>
          <p:cNvSpPr/>
          <p:nvPr/>
        </p:nvSpPr>
        <p:spPr>
          <a:xfrm>
            <a:off x="0" y="0"/>
            <a:ext cx="12190680" cy="4570560"/>
          </a:xfrm>
          <a:prstGeom prst="rect">
            <a:avLst/>
          </a:prstGeom>
          <a:solidFill>
            <a:schemeClr val="accent1">
              <a:lumMod val="75000"/>
            </a:schemeClr>
          </a:solidFill>
          <a:ln w="1584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ffffff"/>
              </a:solidFill>
              <a:effectLst/>
              <a:uFillTx/>
              <a:latin typeface="Arial"/>
              <a:ea typeface="DejaVu Sans"/>
            </a:endParaRPr>
          </a:p>
        </p:txBody>
      </p:sp>
      <p:sp>
        <p:nvSpPr>
          <p:cNvPr id="2" name="Oval 5"/>
          <p:cNvSpPr/>
          <p:nvPr/>
        </p:nvSpPr>
        <p:spPr>
          <a:xfrm>
            <a:off x="0" y="0"/>
            <a:ext cx="12190680" cy="4570560"/>
          </a:xfrm>
          <a:custGeom>
            <a:avLst/>
            <a:gdLst>
              <a:gd name="textAreaLeft" fmla="*/ 0 w 12190680"/>
              <a:gd name="textAreaRight" fmla="*/ 12192120 w 12190680"/>
              <a:gd name="textAreaTop" fmla="*/ 0 h 4570560"/>
              <a:gd name="textAreaBottom" fmla="*/ 4572000 h 457056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w="15840">
            <a:noFill/>
          </a:ln>
        </p:spPr>
        <p:style>
          <a:lnRef idx="0"/>
          <a:fillRef idx="0"/>
          <a:effectRef idx="0"/>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a typeface="DejaVu Sans"/>
            </a:endParaRPr>
          </a:p>
        </p:txBody>
      </p:sp>
      <p:cxnSp>
        <p:nvCxnSpPr>
          <p:cNvPr id="3" name="Straight Connector 7"/>
          <p:cNvCxnSpPr/>
          <p:nvPr/>
        </p:nvCxnSpPr>
        <p:spPr>
          <a:xfrm flipV="1">
            <a:off x="8386560" y="5263920"/>
            <a:ext cx="1440" cy="915840"/>
          </a:xfrm>
          <a:prstGeom prst="straightConnector1">
            <a:avLst/>
          </a:prstGeom>
          <a:ln w="19080">
            <a:solidFill>
              <a:srgbClr val="1482ac"/>
            </a:solidFill>
            <a:round/>
          </a:ln>
        </p:spPr>
      </p:cxnSp>
      <p:sp>
        <p:nvSpPr>
          <p:cNvPr id="4" name="PlaceHolder 1"/>
          <p:cNvSpPr>
            <a:spLocks noGrp="1"/>
          </p:cNvSpPr>
          <p:nvPr>
            <p:ph type="title"/>
          </p:nvPr>
        </p:nvSpPr>
        <p:spPr>
          <a:xfrm>
            <a:off x="1024200" y="1196640"/>
            <a:ext cx="971856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5" name="PlaceHolder 2"/>
          <p:cNvSpPr>
            <a:spLocks noGrp="1"/>
          </p:cNvSpPr>
          <p:nvPr>
            <p:ph type="body"/>
          </p:nvPr>
        </p:nvSpPr>
        <p:spPr>
          <a:xfrm>
            <a:off x="1024200" y="2286000"/>
            <a:ext cx="9718560" cy="4021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6" name="PlaceHolder 3"/>
          <p:cNvSpPr>
            <a:spLocks noGrp="1"/>
          </p:cNvSpPr>
          <p:nvPr>
            <p:ph type="ftr" idx="1"/>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 name="PlaceHolder 4"/>
          <p:cNvSpPr>
            <a:spLocks noGrp="1"/>
          </p:cNvSpPr>
          <p:nvPr>
            <p:ph type="sldNum" idx="2"/>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0FB71E61-0911-40E5-A605-07DE89B64C4A}"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8" name="PlaceHolder 5"/>
          <p:cNvSpPr>
            <a:spLocks noGrp="1"/>
          </p:cNvSpPr>
          <p:nvPr>
            <p:ph type="dt" idx="3"/>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1" name="Straight Connector 6"/>
          <p:cNvCxnSpPr/>
          <p:nvPr/>
        </p:nvCxnSpPr>
        <p:spPr>
          <a:xfrm flipV="1">
            <a:off x="761760" y="826200"/>
            <a:ext cx="1440" cy="915840"/>
          </a:xfrm>
          <a:prstGeom prst="straightConnector1">
            <a:avLst/>
          </a:prstGeom>
          <a:ln w="19080">
            <a:solidFill>
              <a:srgbClr val="1cade4"/>
            </a:solidFill>
            <a:round/>
          </a:ln>
        </p:spPr>
      </p:cxnSp>
      <p:sp>
        <p:nvSpPr>
          <p:cNvPr id="12" name="PlaceHolder 1"/>
          <p:cNvSpPr>
            <a:spLocks noGrp="1"/>
          </p:cNvSpPr>
          <p:nvPr>
            <p:ph type="title"/>
          </p:nvPr>
        </p:nvSpPr>
        <p:spPr>
          <a:xfrm>
            <a:off x="1024200" y="1196640"/>
            <a:ext cx="971856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13" name="PlaceHolder 2"/>
          <p:cNvSpPr>
            <a:spLocks noGrp="1"/>
          </p:cNvSpPr>
          <p:nvPr>
            <p:ph type="body"/>
          </p:nvPr>
        </p:nvSpPr>
        <p:spPr>
          <a:xfrm>
            <a:off x="1024200" y="2286000"/>
            <a:ext cx="9718560" cy="402192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14" name="PlaceHolder 3"/>
          <p:cNvSpPr>
            <a:spLocks noGrp="1"/>
          </p:cNvSpPr>
          <p:nvPr>
            <p:ph type="ftr" idx="4"/>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5" name="PlaceHolder 4"/>
          <p:cNvSpPr>
            <a:spLocks noGrp="1"/>
          </p:cNvSpPr>
          <p:nvPr>
            <p:ph type="sldNum" idx="5"/>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B721EDC0-A4B1-4567-B6E1-6C6FCDB934FD}"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16" name="PlaceHolder 5"/>
          <p:cNvSpPr>
            <a:spLocks noGrp="1"/>
          </p:cNvSpPr>
          <p:nvPr>
            <p:ph type="dt" idx="6"/>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9" name="Straight Connector 6"/>
          <p:cNvCxnSpPr/>
          <p:nvPr/>
        </p:nvCxnSpPr>
        <p:spPr>
          <a:xfrm flipV="1">
            <a:off x="761760" y="826200"/>
            <a:ext cx="1440" cy="915840"/>
          </a:xfrm>
          <a:prstGeom prst="straightConnector1">
            <a:avLst/>
          </a:prstGeom>
          <a:ln w="19080">
            <a:solidFill>
              <a:srgbClr val="1cade4"/>
            </a:solidFill>
            <a:round/>
          </a:ln>
        </p:spPr>
      </p:cxnSp>
      <p:cxnSp>
        <p:nvCxnSpPr>
          <p:cNvPr id="20" name="Straight Connector 6"/>
          <p:cNvCxnSpPr/>
          <p:nvPr/>
        </p:nvCxnSpPr>
        <p:spPr>
          <a:xfrm>
            <a:off x="9601200" y="516240"/>
            <a:ext cx="915840" cy="1440"/>
          </a:xfrm>
          <a:prstGeom prst="straightConnector1">
            <a:avLst/>
          </a:prstGeom>
          <a:ln w="19080">
            <a:solidFill>
              <a:srgbClr val="1cade4"/>
            </a:solidFill>
            <a:round/>
          </a:ln>
        </p:spPr>
      </p:cxnSp>
      <p:sp>
        <p:nvSpPr>
          <p:cNvPr id="21" name="PlaceHolder 1"/>
          <p:cNvSpPr>
            <a:spLocks noGrp="1"/>
          </p:cNvSpPr>
          <p:nvPr>
            <p:ph type="title"/>
          </p:nvPr>
        </p:nvSpPr>
        <p:spPr>
          <a:xfrm>
            <a:off x="1024200" y="1021680"/>
            <a:ext cx="9718560" cy="624960"/>
          </a:xfrm>
          <a:prstGeom prst="rect">
            <a:avLst/>
          </a:prstGeom>
          <a:noFill/>
          <a:ln w="0">
            <a:noFill/>
          </a:ln>
        </p:spPr>
        <p:txBody>
          <a:bodyPr lIns="0" rIns="0" tIns="0" bIns="0" anchor="ctr" vert="eaVert">
            <a:no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22" name="PlaceHolder 2"/>
          <p:cNvSpPr>
            <a:spLocks noGrp="1"/>
          </p:cNvSpPr>
          <p:nvPr>
            <p:ph type="body"/>
          </p:nvPr>
        </p:nvSpPr>
        <p:spPr>
          <a:xfrm>
            <a:off x="1024200" y="2286000"/>
            <a:ext cx="9718560" cy="402192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23" name="PlaceHolder 3"/>
          <p:cNvSpPr>
            <a:spLocks noGrp="1"/>
          </p:cNvSpPr>
          <p:nvPr>
            <p:ph type="ftr" idx="7"/>
          </p:nvPr>
        </p:nvSpPr>
        <p:spPr>
          <a:xfrm>
            <a:off x="4843080" y="6470640"/>
            <a:ext cx="5900040" cy="27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4" name="PlaceHolder 4"/>
          <p:cNvSpPr>
            <a:spLocks noGrp="1"/>
          </p:cNvSpPr>
          <p:nvPr>
            <p:ph type="sldNum" idx="8"/>
          </p:nvPr>
        </p:nvSpPr>
        <p:spPr>
          <a:xfrm>
            <a:off x="10837440" y="6470640"/>
            <a:ext cx="972360" cy="27288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D4474A5E-F069-4014-A6B5-F02D1003035E}"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
        <p:nvSpPr>
          <p:cNvPr id="25" name="PlaceHolder 5"/>
          <p:cNvSpPr>
            <a:spLocks noGrp="1"/>
          </p:cNvSpPr>
          <p:nvPr>
            <p:ph type="dt" idx="9"/>
          </p:nvPr>
        </p:nvSpPr>
        <p:spPr>
          <a:xfrm>
            <a:off x="1024200" y="6470640"/>
            <a:ext cx="2152800" cy="27288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2"/>
    <p:sldLayoutId id="2147483656" r:id="rId3"/>
    <p:sldLayoutId id="2147483657" r:id="rId4"/>
    <p:sldLayoutId id="2147483658"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jpeg"/><Relationship Id="rId3"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Rectangle 27">
            <a:extLst>
              <a:ext uri="{C183D7F6-B498-43B3-948B-1728B52AA6E4}">
                <adec:decorative xmlns:adec="http://schemas.microsoft.com/office/drawing/2017/decorative" val="1"/>
              </a:ext>
            </a:extLst>
          </p:cNvPr>
          <p:cNvSpPr/>
          <p:nvPr/>
        </p:nvSpPr>
        <p:spPr>
          <a:xfrm>
            <a:off x="-10080" y="0"/>
            <a:ext cx="4068360" cy="685656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53" name="PlaceHolder 1"/>
          <p:cNvSpPr>
            <a:spLocks noGrp="1"/>
          </p:cNvSpPr>
          <p:nvPr>
            <p:ph type="title"/>
          </p:nvPr>
        </p:nvSpPr>
        <p:spPr>
          <a:xfrm>
            <a:off x="309960" y="640080"/>
            <a:ext cx="3428280" cy="561168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C Programming Project Presentation</a:t>
            </a:r>
            <a:endParaRPr b="0" lang="en-IN" sz="5000" strike="noStrike" u="none">
              <a:solidFill>
                <a:srgbClr val="000000"/>
              </a:solidFill>
              <a:effectLst/>
              <a:uFillTx/>
              <a:latin typeface="Arial"/>
            </a:endParaRPr>
          </a:p>
        </p:txBody>
      </p:sp>
      <p:sp>
        <p:nvSpPr>
          <p:cNvPr id="54" name="PlaceHolder 2"/>
          <p:cNvSpPr>
            <a:spLocks noGrp="1"/>
          </p:cNvSpPr>
          <p:nvPr>
            <p:ph/>
          </p:nvPr>
        </p:nvSpPr>
        <p:spPr>
          <a:xfrm>
            <a:off x="4699800" y="2106360"/>
            <a:ext cx="7170840" cy="374364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2000" strike="noStrike" u="none">
                <a:solidFill>
                  <a:schemeClr val="dk1"/>
                </a:solidFill>
                <a:effectLst/>
                <a:uFillTx/>
                <a:latin typeface="Tw Cen MT"/>
              </a:rPr>
              <a:t>Project Title: Mini Attendance Tracker </a:t>
            </a:r>
            <a:endParaRPr b="0" lang="en-IN" sz="20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2000" strike="noStrike" u="none">
                <a:solidFill>
                  <a:schemeClr val="dk1"/>
                </a:solidFill>
                <a:effectLst/>
                <a:uFillTx/>
                <a:latin typeface="Tw Cen MT"/>
              </a:rPr>
              <a:t>Course: C Programming Lab </a:t>
            </a:r>
            <a:endParaRPr b="0" lang="en-IN" sz="20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2000" strike="noStrike" u="none">
                <a:solidFill>
                  <a:schemeClr val="dk1"/>
                </a:solidFill>
                <a:effectLst/>
                <a:uFillTx/>
                <a:latin typeface="Tw Cen MT"/>
              </a:rPr>
              <a:t>Student Name &amp; Roll No: Kathiravan -25BCS226, Kavina- 25BCS227, Kishore- 25BCS228, Kusuma- 25BCS229, Litheesh- 25BCS230</a:t>
            </a:r>
            <a:endParaRPr b="0" lang="en-IN" sz="20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2000" strike="noStrike" u="none">
                <a:solidFill>
                  <a:schemeClr val="dk1"/>
                </a:solidFill>
                <a:effectLst/>
                <a:uFillTx/>
                <a:latin typeface="Tw Cen MT"/>
              </a:rPr>
              <a:t>Department: Computer Science </a:t>
            </a:r>
            <a:endParaRPr b="0" lang="en-IN" sz="20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2000" strike="noStrike" u="none">
                <a:solidFill>
                  <a:schemeClr val="dk1"/>
                </a:solidFill>
                <a:effectLst/>
                <a:uFillTx/>
                <a:latin typeface="Tw Cen MT"/>
              </a:rPr>
              <a:t>Mentor / Guide: Moses John Prakash ,Assistant Prof,..</a:t>
            </a:r>
            <a:endParaRPr b="0" lang="en-IN" sz="2000" strike="noStrike" u="none">
              <a:solidFill>
                <a:srgbClr val="000000"/>
              </a:solidFill>
              <a:effectLst/>
              <a:uFillTx/>
              <a:latin typeface="Arial"/>
            </a:endParaRPr>
          </a:p>
        </p:txBody>
      </p:sp>
      <p:pic>
        <p:nvPicPr>
          <p:cNvPr id="55" name="Picture 5" descr="A blue and red logo&#10;&#10;AI-generated content may be incorrect."/>
          <p:cNvPicPr/>
          <p:nvPr/>
        </p:nvPicPr>
        <p:blipFill>
          <a:blip r:embed="rId1"/>
          <a:stretch/>
        </p:blipFill>
        <p:spPr>
          <a:xfrm>
            <a:off x="4058280" y="0"/>
            <a:ext cx="8133840" cy="19177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57"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no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58" name="PlaceHolder 1"/>
          <p:cNvSpPr>
            <a:spLocks noGrp="1"/>
          </p:cNvSpPr>
          <p:nvPr>
            <p:ph type="title"/>
          </p:nvPr>
        </p:nvSpPr>
        <p:spPr>
          <a:xfrm>
            <a:off x="3207960" y="540000"/>
            <a:ext cx="3272040" cy="144000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Introduction</a:t>
            </a:r>
            <a:endParaRPr b="0" lang="en-IN" sz="5000" strike="noStrike" u="none">
              <a:solidFill>
                <a:srgbClr val="000000"/>
              </a:solidFill>
              <a:effectLst/>
              <a:uFillTx/>
              <a:latin typeface="Arial"/>
            </a:endParaRPr>
          </a:p>
        </p:txBody>
      </p:sp>
      <p:sp>
        <p:nvSpPr>
          <p:cNvPr id="59" name="Rectangle 11">
            <a:extLst>
              <a:ext uri="{C183D7F6-B498-43B3-948B-1728B52AA6E4}">
                <adec:decorative xmlns:adec="http://schemas.microsoft.com/office/drawing/2017/decorative" val="1"/>
              </a:ext>
            </a:extLst>
          </p:cNvPr>
          <p:cNvSpPr/>
          <p:nvPr/>
        </p:nvSpPr>
        <p:spPr>
          <a:xfrm>
            <a:off x="0" y="0"/>
            <a:ext cx="2602800" cy="68396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60"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61" name="PlaceHolder 2"/>
          <p:cNvSpPr>
            <a:spLocks noGrp="1"/>
          </p:cNvSpPr>
          <p:nvPr>
            <p:ph/>
          </p:nvPr>
        </p:nvSpPr>
        <p:spPr>
          <a:xfrm>
            <a:off x="3060000" y="1980000"/>
            <a:ext cx="9000000" cy="432000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r>
              <a:rPr b="0" i="1" lang="en-US" sz="7200" strike="noStrike" u="none">
                <a:solidFill>
                  <a:schemeClr val="dk1"/>
                </a:solidFill>
                <a:effectLst/>
                <a:uFillTx/>
                <a:latin typeface="Tw Cen MT"/>
              </a:rPr>
              <a:t>Overview of the Project and Its Purpose</a:t>
            </a:r>
            <a:endParaRPr b="0" lang="en-IN" sz="7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6600" strike="noStrike" u="none">
                <a:solidFill>
                  <a:schemeClr val="dk1"/>
                </a:solidFill>
                <a:effectLst/>
                <a:uFillTx/>
                <a:latin typeface="Tw Cen MT"/>
              </a:rPr>
              <a:t>The Mini Attendance Tracker is a simple console-based application designed to help teachers or class representatives efficiently record and manage student attendance during a session. The system allows users to set the class size, mark all students as present or absent, update attendance for individual roll numbers, and view summaries of present and absent students. Its purpose is to provide a quick and organized way to handle attendance data without needing manual paperwork.</a:t>
            </a:r>
            <a:endParaRPr b="0" lang="en-IN" sz="66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i="1" lang="en-US" sz="7200" strike="noStrike" u="none">
                <a:solidFill>
                  <a:schemeClr val="dk1"/>
                </a:solidFill>
                <a:effectLst/>
                <a:uFillTx/>
                <a:latin typeface="Tw Cen MT"/>
              </a:rPr>
              <a:t>Problem Background and Motivation</a:t>
            </a:r>
            <a:endParaRPr b="0" lang="en-IN" sz="7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6600" strike="noStrike" u="none">
                <a:solidFill>
                  <a:schemeClr val="dk1"/>
                </a:solidFill>
                <a:effectLst/>
                <a:uFillTx/>
                <a:latin typeface="Tw Cen MT"/>
              </a:rPr>
              <a:t>In many educational institutions, attendance is still tracked manually using registers or spreadsheets, which can be time-consuming and prone to human errors. Managing large class sizes becomes difficult, especially when attendance must be taken frequently. This project was motivated by the need for a lightweight, user-friendly, and efficient tool that can automate the attendance marking process within a single session, saving time and effort for both students and teachers.</a:t>
            </a:r>
            <a:endParaRPr b="0" lang="en-IN" sz="66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i="1" lang="en-US" sz="7200" strike="noStrike" u="none">
                <a:solidFill>
                  <a:schemeClr val="dk1"/>
                </a:solidFill>
                <a:effectLst/>
                <a:uFillTx/>
                <a:latin typeface="Tw Cen MT"/>
              </a:rPr>
              <a:t>Significance of the Project in Solving Real-World Issues</a:t>
            </a:r>
            <a:endParaRPr b="0" lang="en-IN" sz="7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6600" strike="noStrike" u="none">
                <a:solidFill>
                  <a:schemeClr val="dk1"/>
                </a:solidFill>
                <a:effectLst/>
                <a:uFillTx/>
                <a:latin typeface="Tw Cen MT"/>
              </a:rPr>
              <a:t>The Mini Attendance Tracker addresses common challenges in traditional attendance management systems. It ensures accuracy, speed, and simplicity, reducing the likelihood of missing or duplicate entries. By providing instant summaries and the ability to update records easily, it enhances classroom organization and productivity. </a:t>
            </a:r>
            <a:endParaRPr b="0" lang="en-IN" sz="66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6600" strike="noStrike" u="none">
                <a:solidFill>
                  <a:schemeClr val="dk1"/>
                </a:solidFill>
                <a:effectLst/>
                <a:uFillTx/>
                <a:latin typeface="Tw Cen MT"/>
              </a:rPr>
              <a:t> </a:t>
            </a:r>
            <a:endParaRPr b="0" lang="en-IN" sz="6600" strike="noStrike" u="none">
              <a:solidFill>
                <a:srgbClr val="000000"/>
              </a:solidFill>
              <a:effectLst/>
              <a:uFillTx/>
              <a:latin typeface="Arial"/>
            </a:endParaRPr>
          </a:p>
        </p:txBody>
      </p:sp>
      <p:pic>
        <p:nvPicPr>
          <p:cNvPr id="62" name="Picture 6"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63"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65"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no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66" name="PlaceHolder 1"/>
          <p:cNvSpPr>
            <a:spLocks noGrp="1"/>
          </p:cNvSpPr>
          <p:nvPr>
            <p:ph type="title"/>
          </p:nvPr>
        </p:nvSpPr>
        <p:spPr>
          <a:xfrm>
            <a:off x="3417840" y="5400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Objective</a:t>
            </a:r>
            <a:endParaRPr b="0" lang="en-IN" sz="5000" strike="noStrike" u="none">
              <a:solidFill>
                <a:srgbClr val="000000"/>
              </a:solidFill>
              <a:effectLst/>
              <a:uFillTx/>
              <a:latin typeface="Arial"/>
            </a:endParaRPr>
          </a:p>
        </p:txBody>
      </p:sp>
      <p:sp>
        <p:nvSpPr>
          <p:cNvPr id="67" name="Rectangle 11">
            <a:extLst>
              <a:ext uri="{C183D7F6-B498-43B3-948B-1728B52AA6E4}">
                <adec:decorative xmlns:adec="http://schemas.microsoft.com/office/drawing/2017/decorative" val="1"/>
              </a:ext>
            </a:extLst>
          </p:cNvPr>
          <p:cNvSpPr/>
          <p:nvPr/>
        </p:nvSpPr>
        <p:spPr>
          <a:xfrm>
            <a:off x="0" y="0"/>
            <a:ext cx="2699640" cy="68396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68"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69" name="PlaceHolder 2"/>
          <p:cNvSpPr>
            <a:spLocks noGrp="1"/>
          </p:cNvSpPr>
          <p:nvPr>
            <p:ph/>
          </p:nvPr>
        </p:nvSpPr>
        <p:spPr>
          <a:xfrm>
            <a:off x="3240000" y="1620000"/>
            <a:ext cx="8950680" cy="396000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chemeClr val="dk1"/>
                </a:solidFill>
                <a:effectLst/>
                <a:uFillTx/>
                <a:latin typeface="Tw Cen MT"/>
              </a:rPr>
              <a:t> </a:t>
            </a:r>
            <a:endParaRPr b="0" lang="en-IN" sz="1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1" i="1" lang="en-US" sz="8800" strike="noStrike" u="none">
                <a:solidFill>
                  <a:schemeClr val="dk1"/>
                </a:solidFill>
                <a:effectLst/>
                <a:uFillTx/>
                <a:latin typeface="Tw Cen MT"/>
              </a:rPr>
              <a:t>Goal of this project:</a:t>
            </a:r>
            <a:endParaRPr b="0" lang="en-IN" sz="88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7200" strike="noStrike" u="none">
                <a:solidFill>
                  <a:schemeClr val="dk1"/>
                </a:solidFill>
                <a:effectLst/>
                <a:uFillTx/>
                <a:latin typeface="Tw Cen MT"/>
              </a:rPr>
              <a:t>The project aims to create a simple yet effective system that can record, update, and display student attendance automatically during a session.</a:t>
            </a:r>
            <a:endParaRPr b="0" lang="en-IN" sz="7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7200" strike="noStrike" u="none">
                <a:solidFill>
                  <a:schemeClr val="dk1"/>
                </a:solidFill>
                <a:effectLst/>
                <a:uFillTx/>
                <a:latin typeface="Tw Cen MT"/>
              </a:rPr>
              <a:t>   To apply core programming logic and modular design</a:t>
            </a:r>
            <a:endParaRPr b="0" lang="en-IN" sz="7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7200" strike="noStrike" u="none">
                <a:solidFill>
                  <a:schemeClr val="dk1"/>
                </a:solidFill>
                <a:effectLst/>
                <a:uFillTx/>
                <a:latin typeface="Tw Cen MT"/>
              </a:rPr>
              <a:t>The project focuses on using key C programming concepts such as loops, arrays, functions, and conditional statements to build a structured and modular application.</a:t>
            </a:r>
            <a:endParaRPr b="0" lang="en-IN" sz="7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7200" strike="noStrike" u="none">
                <a:solidFill>
                  <a:schemeClr val="dk1"/>
                </a:solidFill>
                <a:effectLst/>
                <a:uFillTx/>
                <a:latin typeface="Tw Cen MT"/>
              </a:rPr>
              <a:t>    To demonstrate problem-solving and analytical skills</a:t>
            </a:r>
            <a:endParaRPr b="0" lang="en-IN" sz="7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7200" strike="noStrike" u="none">
                <a:solidFill>
                  <a:schemeClr val="dk1"/>
                </a:solidFill>
                <a:effectLst/>
                <a:uFillTx/>
                <a:latin typeface="Tw Cen MT"/>
              </a:rPr>
              <a:t>    Through designing and debugging the program, the project helps in enhancing logical thinking, algorithmic approach, and the ability to translate real-world problems into working code.</a:t>
            </a:r>
            <a:endParaRPr b="0" lang="en-IN" sz="72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7200" strike="noStrike" u="none">
                <a:solidFill>
                  <a:schemeClr val="dk1"/>
                </a:solidFill>
                <a:effectLst/>
                <a:uFillTx/>
                <a:latin typeface="Tw Cen MT"/>
              </a:rPr>
              <a:t> </a:t>
            </a:r>
            <a:endParaRPr b="0" lang="en-IN" sz="7200" strike="noStrike" u="none">
              <a:solidFill>
                <a:srgbClr val="000000"/>
              </a:solidFill>
              <a:effectLst/>
              <a:uFillTx/>
              <a:latin typeface="Arial"/>
            </a:endParaRPr>
          </a:p>
        </p:txBody>
      </p:sp>
      <p:pic>
        <p:nvPicPr>
          <p:cNvPr id="70"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71"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73"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no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74" name="PlaceHolder 1"/>
          <p:cNvSpPr>
            <a:spLocks noGrp="1"/>
          </p:cNvSpPr>
          <p:nvPr>
            <p:ph type="title"/>
          </p:nvPr>
        </p:nvSpPr>
        <p:spPr>
          <a:xfrm>
            <a:off x="3469320" y="5400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Problem Statement</a:t>
            </a:r>
            <a:endParaRPr b="0" lang="en-IN" sz="5000" strike="noStrike" u="none">
              <a:solidFill>
                <a:srgbClr val="000000"/>
              </a:solidFill>
              <a:effectLst/>
              <a:uFillTx/>
              <a:latin typeface="Arial"/>
            </a:endParaRPr>
          </a:p>
        </p:txBody>
      </p:sp>
      <p:sp>
        <p:nvSpPr>
          <p:cNvPr id="75" name="Rectangle 11">
            <a:extLst>
              <a:ext uri="{C183D7F6-B498-43B3-948B-1728B52AA6E4}">
                <adec:decorative xmlns:adec="http://schemas.microsoft.com/office/drawing/2017/decorative" val="1"/>
              </a:ext>
            </a:extLst>
          </p:cNvPr>
          <p:cNvSpPr/>
          <p:nvPr/>
        </p:nvSpPr>
        <p:spPr>
          <a:xfrm>
            <a:off x="0" y="0"/>
            <a:ext cx="2602800" cy="68396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cxnSp>
        <p:nvCxnSpPr>
          <p:cNvPr id="76"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77" name="PlaceHolder 2"/>
          <p:cNvSpPr>
            <a:spLocks noGrp="1"/>
          </p:cNvSpPr>
          <p:nvPr>
            <p:ph/>
          </p:nvPr>
        </p:nvSpPr>
        <p:spPr>
          <a:xfrm>
            <a:off x="3469320" y="1440000"/>
            <a:ext cx="7921800" cy="4242240"/>
          </a:xfrm>
          <a:prstGeom prst="rect">
            <a:avLst/>
          </a:prstGeom>
          <a:noFill/>
          <a:ln w="0">
            <a:noFill/>
          </a:ln>
        </p:spPr>
        <p:txBody>
          <a:bodyPr lIns="45720" rIns="45720" tIns="45720" bIns="45720" anchor="t">
            <a:normAutofit fontScale="92500" lnSpcReduction="9999"/>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2400" strike="noStrike" u="none">
                <a:solidFill>
                  <a:schemeClr val="dk1"/>
                </a:solidFill>
                <a:effectLst/>
                <a:uFillTx/>
                <a:latin typeface="Tw Cen MT"/>
              </a:rPr>
              <a:t>  </a:t>
            </a:r>
            <a:endParaRPr b="0" lang="en-IN" sz="24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2200" strike="noStrike" u="none">
                <a:solidFill>
                  <a:schemeClr val="dk1"/>
                </a:solidFill>
                <a:effectLst/>
                <a:uFillTx/>
                <a:latin typeface="Tw Cen MT"/>
              </a:rPr>
              <a:t>Manual attendance tracking is slow, repetitive, and error-prone.</a:t>
            </a: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2200" strike="noStrike" u="none">
                <a:solidFill>
                  <a:schemeClr val="dk1"/>
                </a:solidFill>
                <a:effectLst/>
                <a:uFillTx/>
                <a:latin typeface="Tw Cen MT"/>
              </a:rPr>
              <a:t>This project aims to automate the process for small classroom sessions by providing a simple, console-based interface that:</a:t>
            </a: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2200" strike="noStrike" u="none">
                <a:solidFill>
                  <a:schemeClr val="dk1"/>
                </a:solidFill>
                <a:effectLst/>
                <a:uFillTx/>
                <a:latin typeface="Tw Cen MT"/>
              </a:rPr>
              <a:t>      &gt; Records attendance efficiently.</a:t>
            </a: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2200" strike="noStrike" u="none">
                <a:solidFill>
                  <a:schemeClr val="dk1"/>
                </a:solidFill>
                <a:effectLst/>
                <a:uFillTx/>
                <a:latin typeface="Tw Cen MT"/>
              </a:rPr>
              <a:t>      &gt; Ensures accuracy through validation.</a:t>
            </a: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2200" strike="noStrike" u="none">
                <a:solidFill>
                  <a:schemeClr val="dk1"/>
                </a:solidFill>
                <a:effectLst/>
                <a:uFillTx/>
                <a:latin typeface="Tw Cen MT"/>
              </a:rPr>
              <a:t>      &gt; Displays quick summaries and lists.</a:t>
            </a: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2200" strike="noStrike" u="none">
                <a:solidFill>
                  <a:schemeClr val="dk1"/>
                </a:solidFill>
                <a:effectLst/>
                <a:uFillTx/>
                <a:latin typeface="Tw Cen MT"/>
              </a:rPr>
              <a:t>      &gt; All without the need for external files or databases.</a:t>
            </a:r>
            <a:endParaRPr b="0" lang="en-IN" sz="22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2400" strike="noStrike" u="none">
                <a:solidFill>
                  <a:schemeClr val="dk1"/>
                </a:solidFill>
                <a:effectLst/>
                <a:uFillTx/>
                <a:latin typeface="Tw Cen MT"/>
              </a:rPr>
              <a:t> </a:t>
            </a:r>
            <a:endParaRPr b="0" lang="en-IN" sz="2400" strike="noStrike" u="none">
              <a:solidFill>
                <a:srgbClr val="000000"/>
              </a:solidFill>
              <a:effectLst/>
              <a:uFillTx/>
              <a:latin typeface="Arial"/>
            </a:endParaRPr>
          </a:p>
        </p:txBody>
      </p:sp>
      <p:pic>
        <p:nvPicPr>
          <p:cNvPr id="78"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79"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7">
            <a:extLst>
              <a:ext uri="{C183D7F6-B498-43B3-948B-1728B52AA6E4}">
                <adec:decorative xmlns:adec="http://schemas.microsoft.com/office/drawing/2017/decorative" val="1"/>
              </a:ext>
            </a:extLst>
          </p:cNvPr>
          <p:cNvSpPr/>
          <p:nvPr/>
        </p:nvSpPr>
        <p:spPr>
          <a:xfrm>
            <a:off x="0" y="-1692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81"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no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82" name="PlaceHolder 1"/>
          <p:cNvSpPr>
            <a:spLocks noGrp="1"/>
          </p:cNvSpPr>
          <p:nvPr>
            <p:ph type="title"/>
          </p:nvPr>
        </p:nvSpPr>
        <p:spPr>
          <a:xfrm>
            <a:off x="3417840" y="5400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System Requirements</a:t>
            </a:r>
            <a:endParaRPr b="0" lang="en-IN" sz="5000" strike="noStrike" u="none">
              <a:solidFill>
                <a:srgbClr val="000000"/>
              </a:solidFill>
              <a:effectLst/>
              <a:uFillTx/>
              <a:latin typeface="Arial"/>
            </a:endParaRPr>
          </a:p>
        </p:txBody>
      </p:sp>
      <p:sp>
        <p:nvSpPr>
          <p:cNvPr id="83" name="Rectangle 11">
            <a:extLst>
              <a:ext uri="{C183D7F6-B498-43B3-948B-1728B52AA6E4}">
                <adec:decorative xmlns:adec="http://schemas.microsoft.com/office/drawing/2017/decorative" val="1"/>
              </a:ext>
            </a:extLst>
          </p:cNvPr>
          <p:cNvSpPr/>
          <p:nvPr/>
        </p:nvSpPr>
        <p:spPr>
          <a:xfrm>
            <a:off x="0" y="0"/>
            <a:ext cx="2602800" cy="68396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cxnSp>
        <p:nvCxnSpPr>
          <p:cNvPr id="84"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85" name="PlaceHolder 2"/>
          <p:cNvSpPr>
            <a:spLocks noGrp="1"/>
          </p:cNvSpPr>
          <p:nvPr>
            <p:ph/>
          </p:nvPr>
        </p:nvSpPr>
        <p:spPr>
          <a:xfrm>
            <a:off x="3060000" y="2206440"/>
            <a:ext cx="8279640" cy="355320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1" i="1" lang="en-IN" sz="8000" strike="noStrike" u="none">
                <a:solidFill>
                  <a:schemeClr val="dk1"/>
                </a:solidFill>
                <a:effectLst/>
                <a:uFillTx/>
                <a:latin typeface="Tw Cen MT"/>
              </a:rPr>
              <a:t>Hardware Requirements</a:t>
            </a:r>
            <a:endParaRPr b="0" lang="en-IN" sz="80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8000" strike="noStrike" u="none">
                <a:solidFill>
                  <a:schemeClr val="dk1"/>
                </a:solidFill>
                <a:effectLst/>
                <a:uFillTx/>
                <a:latin typeface="Tw Cen MT"/>
              </a:rPr>
              <a:t>Processor: Intel Core i3 or higher</a:t>
            </a:r>
            <a:endParaRPr b="0" lang="en-IN" sz="80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8000" strike="noStrike" u="none">
                <a:solidFill>
                  <a:schemeClr val="dk1"/>
                </a:solidFill>
                <a:effectLst/>
                <a:uFillTx/>
                <a:latin typeface="Tw Cen MT"/>
              </a:rPr>
              <a:t>RAM: Minimum 4 GB</a:t>
            </a:r>
            <a:endParaRPr b="0" lang="en-IN" sz="80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8000" strike="noStrike" u="none">
                <a:solidFill>
                  <a:schemeClr val="dk1"/>
                </a:solidFill>
                <a:effectLst/>
                <a:uFillTx/>
                <a:latin typeface="Tw Cen MT"/>
              </a:rPr>
              <a:t>Storage: At least 500 MB of free disk space</a:t>
            </a:r>
            <a:endParaRPr b="0" lang="en-IN" sz="80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1" i="1" lang="en-IN" sz="8000" strike="noStrike" u="none">
                <a:solidFill>
                  <a:schemeClr val="dk1"/>
                </a:solidFill>
                <a:effectLst/>
                <a:uFillTx/>
                <a:latin typeface="Tw Cen MT"/>
              </a:rPr>
              <a:t>Software Requirements</a:t>
            </a:r>
            <a:endParaRPr b="0" lang="en-IN" sz="80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8000" strike="noStrike" u="none">
                <a:solidFill>
                  <a:schemeClr val="dk1"/>
                </a:solidFill>
                <a:effectLst/>
                <a:uFillTx/>
                <a:latin typeface="Tw Cen MT"/>
              </a:rPr>
              <a:t>Operating System: Windows or Linux</a:t>
            </a:r>
            <a:endParaRPr b="0" lang="en-IN" sz="80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8000" strike="noStrike" u="none">
                <a:solidFill>
                  <a:schemeClr val="dk1"/>
                </a:solidFill>
                <a:effectLst/>
                <a:uFillTx/>
                <a:latin typeface="Tw Cen MT"/>
              </a:rPr>
              <a:t>Compiler: GCC / Turbo C / Code::Blocks / Dev C++</a:t>
            </a:r>
            <a:endParaRPr b="0" lang="en-IN" sz="80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8000" strike="noStrike" u="none">
                <a:solidFill>
                  <a:schemeClr val="dk1"/>
                </a:solidFill>
                <a:effectLst/>
                <a:uFillTx/>
                <a:latin typeface="Tw Cen MT"/>
              </a:rPr>
              <a:t>Editor: Visual Studio Code / Notepad++</a:t>
            </a:r>
            <a:endParaRPr b="0" lang="en-IN" sz="80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IN" sz="8000" strike="noStrike" u="none">
                <a:solidFill>
                  <a:schemeClr val="dk1"/>
                </a:solidFill>
                <a:effectLst/>
                <a:uFillTx/>
                <a:latin typeface="Tw Cen MT"/>
              </a:rPr>
              <a:t> </a:t>
            </a:r>
            <a:endParaRPr b="0" lang="en-IN" sz="8000" strike="noStrike" u="none">
              <a:solidFill>
                <a:srgbClr val="000000"/>
              </a:solidFill>
              <a:effectLst/>
              <a:uFillTx/>
              <a:latin typeface="Arial"/>
            </a:endParaRPr>
          </a:p>
        </p:txBody>
      </p:sp>
      <p:pic>
        <p:nvPicPr>
          <p:cNvPr id="86"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87"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Rectangle 4">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89" name="Rectangle 5">
            <a:extLst>
              <a:ext uri="{C183D7F6-B498-43B3-948B-1728B52AA6E4}">
                <adec:decorative xmlns:adec="http://schemas.microsoft.com/office/drawing/2017/decorative" val="1"/>
              </a:ext>
            </a:extLst>
          </p:cNvPr>
          <p:cNvSpPr/>
          <p:nvPr/>
        </p:nvSpPr>
        <p:spPr>
          <a:xfrm>
            <a:off x="2871720" y="455040"/>
            <a:ext cx="8946720" cy="5879520"/>
          </a:xfrm>
          <a:prstGeom prst="rect">
            <a:avLst/>
          </a:prstGeom>
          <a:no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90"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System Design</a:t>
            </a:r>
            <a:endParaRPr b="0" lang="en-IN" sz="5000" strike="noStrike" u="none">
              <a:solidFill>
                <a:srgbClr val="000000"/>
              </a:solidFill>
              <a:effectLst/>
              <a:uFillTx/>
              <a:latin typeface="Arial"/>
            </a:endParaRPr>
          </a:p>
        </p:txBody>
      </p:sp>
      <p:sp>
        <p:nvSpPr>
          <p:cNvPr id="91" name="Rectangle 6">
            <a:extLst>
              <a:ext uri="{C183D7F6-B498-43B3-948B-1728B52AA6E4}">
                <adec:decorative xmlns:adec="http://schemas.microsoft.com/office/drawing/2017/decorative" val="1"/>
              </a:ext>
            </a:extLst>
          </p:cNvPr>
          <p:cNvSpPr/>
          <p:nvPr/>
        </p:nvSpPr>
        <p:spPr>
          <a:xfrm>
            <a:off x="0" y="0"/>
            <a:ext cx="2602800" cy="68396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cxnSp>
        <p:nvCxnSpPr>
          <p:cNvPr id="92" name="Straight Connector 8">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pic>
        <p:nvPicPr>
          <p:cNvPr id="93"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94"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
        <p:nvSpPr>
          <p:cNvPr id="95" name=""/>
          <p:cNvSpPr/>
          <p:nvPr/>
        </p:nvSpPr>
        <p:spPr>
          <a:xfrm>
            <a:off x="3469320" y="2404080"/>
            <a:ext cx="8141400" cy="9133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i="1" lang="en-IN" sz="1800" strike="noStrike" u="none">
                <a:solidFill>
                  <a:srgbClr val="000000"/>
                </a:solidFill>
                <a:effectLst/>
                <a:uFillTx/>
                <a:latin typeface="Arial"/>
                <a:ea typeface="DejaVu Sans"/>
              </a:rPr>
              <a:t>The Mini Attendance Tracker follows a modular and menu-driven architecture. Each user operation is handled by a dedicated function to improve clarity and maintainability. </a:t>
            </a:r>
            <a:endParaRPr b="0" i="1"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
          <p:cNvSpPr/>
          <p:nvPr/>
        </p:nvSpPr>
        <p:spPr>
          <a:xfrm>
            <a:off x="1260360" y="900000"/>
            <a:ext cx="7379640" cy="5857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500" strike="noStrike" u="none">
                <a:solidFill>
                  <a:srgbClr val="000000"/>
                </a:solidFill>
                <a:effectLst/>
                <a:uFillTx/>
                <a:latin typeface="Arial"/>
                <a:ea typeface="DejaVu Sans"/>
              </a:rPr>
              <a:t>1</a:t>
            </a:r>
            <a:r>
              <a:rPr b="0" lang="en-IN" sz="2000" strike="noStrike" u="none">
                <a:solidFill>
                  <a:srgbClr val="000000"/>
                </a:solidFill>
                <a:effectLst/>
                <a:uFillTx/>
                <a:latin typeface="Arial"/>
                <a:ea typeface="DejaVu Sans"/>
              </a:rPr>
              <a:t>. Structure and Workflow of the System</a:t>
            </a:r>
            <a:endParaRPr b="0" lang="en-IN" sz="2000" strike="noStrike" u="none">
              <a:solidFill>
                <a:srgbClr val="000000"/>
              </a:solidFill>
              <a:effectLst/>
              <a:uFillTx/>
              <a:latin typeface="Arial"/>
            </a:endParaRPr>
          </a:p>
          <a:p>
            <a:pPr>
              <a:lnSpc>
                <a:spcPct val="100000"/>
              </a:lnSpc>
            </a:pPr>
            <a:endParaRPr b="0" lang="en-IN" sz="1800" strike="noStrike" u="none">
              <a:solidFill>
                <a:srgbClr val="000000"/>
              </a:solidFill>
              <a:effectLst/>
              <a:uFillTx/>
              <a:latin typeface="Arial"/>
            </a:endParaRPr>
          </a:p>
          <a:p>
            <a:pPr>
              <a:lnSpc>
                <a:spcPct val="100000"/>
              </a:lnSpc>
              <a:spcBef>
                <a:spcPts val="1191"/>
              </a:spcBef>
              <a:spcAft>
                <a:spcPts val="992"/>
              </a:spcAft>
            </a:pPr>
            <a:r>
              <a:rPr b="1" i="1" lang="en-IN" sz="1300" strike="noStrike" u="none">
                <a:solidFill>
                  <a:srgbClr val="000000"/>
                </a:solidFill>
                <a:effectLst/>
                <a:uFillTx/>
                <a:latin typeface="Arial"/>
                <a:ea typeface="DejaVu Sans"/>
              </a:rPr>
              <a:t>Main Workflow</a:t>
            </a:r>
            <a:endParaRPr b="1" lang="en-IN" sz="1300" strike="noStrike" u="none">
              <a:solidFill>
                <a:srgbClr val="000000"/>
              </a:solidFill>
              <a:effectLst/>
              <a:uFillTx/>
              <a:latin typeface="Arial"/>
            </a:endParaRPr>
          </a:p>
          <a:p>
            <a:pPr>
              <a:lnSpc>
                <a:spcPct val="100000"/>
              </a:lnSpc>
              <a:spcBef>
                <a:spcPts val="1191"/>
              </a:spcBef>
              <a:spcAft>
                <a:spcPts val="992"/>
              </a:spcAft>
            </a:pPr>
            <a:r>
              <a:rPr b="0" lang="en-IN" sz="1300" strike="noStrike" u="none">
                <a:solidFill>
                  <a:srgbClr val="000000"/>
                </a:solidFill>
                <a:effectLst/>
                <a:uFillTx/>
                <a:latin typeface="Arial"/>
                <a:ea typeface="DejaVu Sans"/>
              </a:rPr>
              <a:t>Start → Initialise all roll statuses to '-'.</a:t>
            </a:r>
            <a:endParaRPr b="0" lang="en-IN" sz="1300" strike="noStrike" u="none">
              <a:solidFill>
                <a:srgbClr val="000000"/>
              </a:solidFill>
              <a:effectLst/>
              <a:uFillTx/>
              <a:latin typeface="Arial"/>
            </a:endParaRPr>
          </a:p>
          <a:p>
            <a:pPr>
              <a:lnSpc>
                <a:spcPct val="100000"/>
              </a:lnSpc>
              <a:spcBef>
                <a:spcPts val="1191"/>
              </a:spcBef>
              <a:spcAft>
                <a:spcPts val="992"/>
              </a:spcAft>
            </a:pPr>
            <a:r>
              <a:rPr b="0" lang="en-IN" sz="1300" strike="noStrike" u="none">
                <a:solidFill>
                  <a:srgbClr val="000000"/>
                </a:solidFill>
                <a:effectLst/>
                <a:uFillTx/>
                <a:latin typeface="Arial"/>
                <a:ea typeface="DejaVu Sans"/>
              </a:rPr>
              <a:t>Display Menu → Show user options (1–8).</a:t>
            </a:r>
            <a:endParaRPr b="0" lang="en-IN" sz="1300" strike="noStrike" u="none">
              <a:solidFill>
                <a:srgbClr val="000000"/>
              </a:solidFill>
              <a:effectLst/>
              <a:uFillTx/>
              <a:latin typeface="Arial"/>
            </a:endParaRPr>
          </a:p>
          <a:p>
            <a:pPr>
              <a:lnSpc>
                <a:spcPct val="100000"/>
              </a:lnSpc>
              <a:spcBef>
                <a:spcPts val="1191"/>
              </a:spcBef>
              <a:spcAft>
                <a:spcPts val="992"/>
              </a:spcAft>
            </a:pPr>
            <a:r>
              <a:rPr b="0" lang="en-IN" sz="1300" strike="noStrike" u="none">
                <a:solidFill>
                  <a:srgbClr val="000000"/>
                </a:solidFill>
                <a:effectLst/>
                <a:uFillTx/>
                <a:latin typeface="Arial"/>
                <a:ea typeface="DejaVu Sans"/>
              </a:rPr>
              <a:t>User Input → Read and validate choice.</a:t>
            </a:r>
            <a:endParaRPr b="0" lang="en-IN" sz="1300" strike="noStrike" u="none">
              <a:solidFill>
                <a:srgbClr val="000000"/>
              </a:solidFill>
              <a:effectLst/>
              <a:uFillTx/>
              <a:latin typeface="Arial"/>
            </a:endParaRPr>
          </a:p>
          <a:p>
            <a:pPr>
              <a:lnSpc>
                <a:spcPct val="100000"/>
              </a:lnSpc>
              <a:spcBef>
                <a:spcPts val="1191"/>
              </a:spcBef>
              <a:spcAft>
                <a:spcPts val="992"/>
              </a:spcAft>
            </a:pPr>
            <a:r>
              <a:rPr b="1" i="1" lang="en-IN" sz="1300" strike="noStrike" u="none">
                <a:solidFill>
                  <a:srgbClr val="000000"/>
                </a:solidFill>
                <a:effectLst/>
                <a:uFillTx/>
                <a:latin typeface="Arial"/>
                <a:ea typeface="DejaVu Sans"/>
              </a:rPr>
              <a:t>Process Choice</a:t>
            </a:r>
            <a:r>
              <a:rPr b="0" lang="en-IN" sz="1300" strike="noStrike" u="none">
                <a:solidFill>
                  <a:srgbClr val="000000"/>
                </a:solidFill>
                <a:effectLst/>
                <a:uFillTx/>
                <a:latin typeface="Arial"/>
                <a:ea typeface="DejaVu Sans"/>
              </a:rPr>
              <a:t>:  </a:t>
            </a:r>
            <a:endParaRPr b="0" lang="en-IN" sz="1300" strike="noStrike" u="none">
              <a:solidFill>
                <a:srgbClr val="000000"/>
              </a:solidFill>
              <a:effectLst/>
              <a:uFillTx/>
              <a:latin typeface="Arial"/>
            </a:endParaRPr>
          </a:p>
          <a:p>
            <a:pPr>
              <a:lnSpc>
                <a:spcPct val="100000"/>
              </a:lnSpc>
            </a:pPr>
            <a:r>
              <a:rPr b="0" lang="en-IN" sz="1300" strike="noStrike" u="none">
                <a:solidFill>
                  <a:srgbClr val="000000"/>
                </a:solidFill>
                <a:effectLst/>
                <a:uFillTx/>
                <a:latin typeface="Arial"/>
                <a:ea typeface="DejaVu Sans"/>
              </a:rPr>
              <a:t>Set Class Size → Define number of students (N).</a:t>
            </a:r>
            <a:endParaRPr b="0" lang="en-IN" sz="1300" strike="noStrike" u="none">
              <a:solidFill>
                <a:srgbClr val="000000"/>
              </a:solidFill>
              <a:effectLst/>
              <a:uFillTx/>
              <a:latin typeface="Arial"/>
            </a:endParaRPr>
          </a:p>
          <a:p>
            <a:pPr>
              <a:lnSpc>
                <a:spcPct val="100000"/>
              </a:lnSpc>
              <a:spcBef>
                <a:spcPts val="567"/>
              </a:spcBef>
              <a:spcAft>
                <a:spcPts val="992"/>
              </a:spcAft>
            </a:pPr>
            <a:r>
              <a:rPr b="0" lang="en-IN" sz="1300" strike="noStrike" u="none">
                <a:solidFill>
                  <a:srgbClr val="000000"/>
                </a:solidFill>
                <a:effectLst/>
                <a:uFillTx/>
                <a:latin typeface="Arial"/>
                <a:ea typeface="DejaVu Sans"/>
              </a:rPr>
              <a:t>Mark All → Record attendance for all rolls (P/A).</a:t>
            </a:r>
            <a:endParaRPr b="0" lang="en-IN" sz="1300" strike="noStrike" u="none">
              <a:solidFill>
                <a:srgbClr val="000000"/>
              </a:solidFill>
              <a:effectLst/>
              <a:uFillTx/>
              <a:latin typeface="Arial"/>
            </a:endParaRPr>
          </a:p>
          <a:p>
            <a:pPr>
              <a:lnSpc>
                <a:spcPct val="100000"/>
              </a:lnSpc>
              <a:spcAft>
                <a:spcPts val="992"/>
              </a:spcAft>
            </a:pPr>
            <a:r>
              <a:rPr b="0" lang="en-IN" sz="1300" strike="noStrike" u="none">
                <a:solidFill>
                  <a:srgbClr val="000000"/>
                </a:solidFill>
                <a:effectLst/>
                <a:uFillTx/>
                <a:latin typeface="Arial"/>
                <a:ea typeface="DejaVu Sans"/>
              </a:rPr>
              <a:t>Update Roll → Change one student’s status.</a:t>
            </a:r>
            <a:endParaRPr b="0" lang="en-IN" sz="1300" strike="noStrike" u="none">
              <a:solidFill>
                <a:srgbClr val="000000"/>
              </a:solidFill>
              <a:effectLst/>
              <a:uFillTx/>
              <a:latin typeface="Arial"/>
            </a:endParaRPr>
          </a:p>
          <a:p>
            <a:pPr>
              <a:lnSpc>
                <a:spcPct val="100000"/>
              </a:lnSpc>
              <a:spcAft>
                <a:spcPts val="992"/>
              </a:spcAft>
            </a:pPr>
            <a:r>
              <a:rPr b="0" lang="en-IN" sz="1300" strike="noStrike" u="none">
                <a:solidFill>
                  <a:srgbClr val="000000"/>
                </a:solidFill>
                <a:effectLst/>
                <a:uFillTx/>
                <a:latin typeface="Arial"/>
                <a:ea typeface="DejaVu Sans"/>
              </a:rPr>
              <a:t>Show Summary → Count present/absent &amp; calculate percentage.</a:t>
            </a:r>
            <a:endParaRPr b="0" lang="en-IN" sz="1300" strike="noStrike" u="none">
              <a:solidFill>
                <a:srgbClr val="000000"/>
              </a:solidFill>
              <a:effectLst/>
              <a:uFillTx/>
              <a:latin typeface="Arial"/>
            </a:endParaRPr>
          </a:p>
          <a:p>
            <a:pPr>
              <a:lnSpc>
                <a:spcPct val="100000"/>
              </a:lnSpc>
              <a:spcAft>
                <a:spcPts val="992"/>
              </a:spcAft>
            </a:pPr>
            <a:r>
              <a:rPr b="0" lang="en-IN" sz="1300" strike="noStrike" u="none">
                <a:solidFill>
                  <a:srgbClr val="000000"/>
                </a:solidFill>
                <a:effectLst/>
                <a:uFillTx/>
                <a:latin typeface="Arial"/>
                <a:ea typeface="DejaVu Sans"/>
              </a:rPr>
              <a:t>Show Present/Absent Lists → Display respective rolls.</a:t>
            </a:r>
            <a:endParaRPr b="0" lang="en-IN" sz="1300" strike="noStrike" u="none">
              <a:solidFill>
                <a:srgbClr val="000000"/>
              </a:solidFill>
              <a:effectLst/>
              <a:uFillTx/>
              <a:latin typeface="Arial"/>
            </a:endParaRPr>
          </a:p>
          <a:p>
            <a:pPr>
              <a:lnSpc>
                <a:spcPct val="100000"/>
              </a:lnSpc>
              <a:spcAft>
                <a:spcPts val="992"/>
              </a:spcAft>
            </a:pPr>
            <a:r>
              <a:rPr b="0" lang="en-IN" sz="1300" strike="noStrike" u="none">
                <a:solidFill>
                  <a:srgbClr val="000000"/>
                </a:solidFill>
                <a:effectLst/>
                <a:uFillTx/>
                <a:latin typeface="Arial"/>
                <a:ea typeface="DejaVu Sans"/>
              </a:rPr>
              <a:t>Reset Session → Clear all statuses to '-'.</a:t>
            </a:r>
            <a:endParaRPr b="0" lang="en-IN" sz="1300" strike="noStrike" u="none">
              <a:solidFill>
                <a:srgbClr val="000000"/>
              </a:solidFill>
              <a:effectLst/>
              <a:uFillTx/>
              <a:latin typeface="Arial"/>
            </a:endParaRPr>
          </a:p>
          <a:p>
            <a:pPr>
              <a:lnSpc>
                <a:spcPct val="100000"/>
              </a:lnSpc>
              <a:spcAft>
                <a:spcPts val="992"/>
              </a:spcAft>
            </a:pPr>
            <a:r>
              <a:rPr b="0" lang="en-IN" sz="1300" strike="noStrike" u="none">
                <a:solidFill>
                  <a:srgbClr val="000000"/>
                </a:solidFill>
                <a:effectLst/>
                <a:uFillTx/>
                <a:latin typeface="Arial"/>
                <a:ea typeface="DejaVu Sans"/>
              </a:rPr>
              <a:t>Exit → End program.</a:t>
            </a:r>
            <a:endParaRPr b="0" lang="en-IN" sz="1300" strike="noStrike" u="none">
              <a:solidFill>
                <a:srgbClr val="000000"/>
              </a:solidFill>
              <a:effectLst/>
              <a:uFillTx/>
              <a:latin typeface="Arial"/>
            </a:endParaRPr>
          </a:p>
          <a:p>
            <a:pPr>
              <a:lnSpc>
                <a:spcPct val="100000"/>
              </a:lnSpc>
              <a:spcAft>
                <a:spcPts val="992"/>
              </a:spcAft>
            </a:pPr>
            <a:r>
              <a:rPr b="0" lang="en-IN" sz="1300" strike="noStrike" u="none">
                <a:solidFill>
                  <a:srgbClr val="000000"/>
                </a:solidFill>
                <a:effectLst/>
                <a:uFillTx/>
                <a:latin typeface="Arial"/>
                <a:ea typeface="DejaVu Sans"/>
              </a:rPr>
              <a:t>Repeat Menu until user selects Exit.</a:t>
            </a:r>
            <a:endParaRPr b="0" lang="en-IN" sz="1300" strike="noStrike" u="none">
              <a:solidFill>
                <a:srgbClr val="000000"/>
              </a:solidFill>
              <a:effectLst/>
              <a:uFillTx/>
              <a:latin typeface="Arial"/>
            </a:endParaRPr>
          </a:p>
          <a:p>
            <a:pPr>
              <a:lnSpc>
                <a:spcPct val="100000"/>
              </a:lnSpc>
              <a:spcBef>
                <a:spcPts val="1191"/>
              </a:spcBef>
              <a:spcAft>
                <a:spcPts val="992"/>
              </a:spcAft>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
          <p:cNvSpPr/>
          <p:nvPr/>
        </p:nvSpPr>
        <p:spPr>
          <a:xfrm>
            <a:off x="1777320" y="851760"/>
            <a:ext cx="6682680" cy="5511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600" strike="noStrike" u="none">
                <a:solidFill>
                  <a:srgbClr val="000000"/>
                </a:solidFill>
                <a:effectLst/>
                <a:uFillTx/>
                <a:latin typeface="Arial"/>
                <a:ea typeface="DejaVu Sans"/>
              </a:rPr>
              <a:t>2</a:t>
            </a:r>
            <a:r>
              <a:rPr b="0" lang="en-IN" sz="2000" strike="noStrike" u="none">
                <a:solidFill>
                  <a:srgbClr val="000000"/>
                </a:solidFill>
                <a:effectLst/>
                <a:uFillTx/>
                <a:latin typeface="Arial"/>
                <a:ea typeface="DejaVu Sans"/>
              </a:rPr>
              <a:t>. Flowchart (Logic Flow)</a:t>
            </a:r>
            <a:endParaRPr b="0" lang="en-IN" sz="2000" strike="noStrike" u="none">
              <a:solidFill>
                <a:srgbClr val="000000"/>
              </a:solidFill>
              <a:effectLst/>
              <a:uFillTx/>
              <a:latin typeface="Arial"/>
            </a:endParaRPr>
          </a:p>
          <a:p>
            <a:pPr>
              <a:lnSpc>
                <a:spcPct val="100000"/>
              </a:lnSpc>
            </a:pPr>
            <a:endParaRPr b="0" lang="en-IN" sz="1600" strike="noStrike" u="none">
              <a:solidFill>
                <a:srgbClr val="000000"/>
              </a:solidFill>
              <a:effectLst/>
              <a:uFillTx/>
              <a:latin typeface="Arial"/>
            </a:endParaRPr>
          </a:p>
          <a:p>
            <a:pPr>
              <a:lnSpc>
                <a:spcPct val="100000"/>
              </a:lnSpc>
            </a:pPr>
            <a:endParaRPr b="0" lang="en-IN" sz="1400" strike="noStrike" u="none">
              <a:solidFill>
                <a:srgbClr val="000000"/>
              </a:solidFill>
              <a:effectLst/>
              <a:uFillTx/>
              <a:latin typeface="Arial"/>
            </a:endParaRPr>
          </a:p>
          <a:p>
            <a:pPr>
              <a:lnSpc>
                <a:spcPct val="100000"/>
              </a:lnSpc>
            </a:pPr>
            <a:r>
              <a:rPr b="0" lang="en-IN" sz="1400" strike="noStrike" u="none">
                <a:solidFill>
                  <a:srgbClr val="000000"/>
                </a:solidFill>
                <a:effectLst/>
                <a:uFillTx/>
                <a:latin typeface="Liberation Mono;Courier New;DejaVu Sans Mono;Lucida Sans Typewriter"/>
                <a:ea typeface="Liberation Mono;Courier New;DejaVu Sans Mono;Lucida Sans Typewriter"/>
              </a:rPr>
              <a:t> </a:t>
            </a:r>
            <a:r>
              <a:rPr b="0" lang="en-IN" sz="1000" strike="noStrike" u="none">
                <a:solidFill>
                  <a:srgbClr val="000000"/>
                </a:solidFill>
                <a:effectLst/>
                <a:uFillTx/>
                <a:latin typeface="Liberation Mono;Courier New;DejaVu Sans Mono;Lucida Sans Typewriter"/>
                <a:ea typeface="Liberation Mono;Courier New;DejaVu Sans Mono;Lucida Sans Typewriter"/>
              </a:rPr>
              <a:t>                                 </a:t>
            </a:r>
            <a:r>
              <a:rPr b="1" lang="en-IN" sz="1000" strike="noStrike" u="none">
                <a:solidFill>
                  <a:srgbClr val="000000"/>
                </a:solidFill>
                <a:effectLst/>
                <a:uFillTx/>
                <a:latin typeface="Liberation Mono;Courier New;DejaVu Sans Mono;Lucida Sans Typewriter"/>
                <a:ea typeface="Liberation Mono;Courier New;DejaVu Sans Mono;Lucida Sans Typewriter"/>
              </a:rPr>
              <a:t>  </a:t>
            </a:r>
            <a:r>
              <a:rPr b="1" lang="en-IN" sz="1400" strike="noStrike" u="none">
                <a:solidFill>
                  <a:srgbClr val="000000"/>
                </a:solidFill>
                <a:effectLst/>
                <a:uFillTx/>
                <a:latin typeface="Liberation Mono;Courier New;DejaVu Sans Mono;Lucida Sans Typewriter"/>
                <a:ea typeface="Liberation Mono;Courier New;DejaVu Sans Mono;Lucida Sans Typewriter"/>
              </a:rPr>
              <a:t>START </a:t>
            </a:r>
            <a:r>
              <a:rPr b="0" lang="en-IN" sz="1100" strike="noStrike" u="none">
                <a:solidFill>
                  <a:srgbClr val="000000"/>
                </a:solidFill>
                <a:effectLst/>
                <a:uFillTx/>
                <a:latin typeface="Liberation Mono;Courier New;DejaVu Sans Mono;Lucida Sans Typewriter"/>
                <a:ea typeface="Liberation Mono;Courier New;DejaVu Sans Mono;Lucida Sans Typewriter"/>
              </a:rPr>
              <a:t> </a:t>
            </a:r>
            <a:r>
              <a:rPr b="0" lang="en-IN" sz="10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000" strike="noStrike" u="none">
              <a:solidFill>
                <a:srgbClr val="000000"/>
              </a:solidFill>
              <a:effectLst/>
              <a:uFillTx/>
              <a:latin typeface="Arial"/>
            </a:endParaRPr>
          </a:p>
          <a:p>
            <a:pPr>
              <a:lnSpc>
                <a:spcPct val="100000"/>
              </a:lnSpc>
            </a:pPr>
            <a:r>
              <a:rPr b="0" lang="en-IN" sz="1000" strike="noStrike" u="none">
                <a:solidFill>
                  <a:srgbClr val="000000"/>
                </a:solidFill>
                <a:effectLst/>
                <a:uFillTx/>
                <a:latin typeface="Liberation Mono;Courier New;DejaVu Sans Mono;Lucida Sans Typewriter"/>
                <a:ea typeface="Liberation Mono;Courier New;DejaVu Sans Mono;Lucida Sans Typewriter"/>
              </a:rPr>
              <a:t>                                       </a:t>
            </a:r>
            <a:r>
              <a:rPr b="0" lang="en-IN" sz="2400" strike="noStrike" u="none">
                <a:solidFill>
                  <a:srgbClr val="000000"/>
                </a:solidFill>
                <a:effectLst/>
                <a:uFillTx/>
                <a:latin typeface="Liberation Mono;Courier New;DejaVu Sans Mono;Lucida Sans Typewriter"/>
                <a:ea typeface="Liberation Mono;Courier New;DejaVu Sans Mono;Lucida Sans Typewriter"/>
              </a:rPr>
              <a:t>↓</a:t>
            </a:r>
            <a:endParaRPr b="0" lang="en-IN" sz="2400" strike="noStrike" u="none">
              <a:solidFill>
                <a:srgbClr val="000000"/>
              </a:solidFill>
              <a:effectLst/>
              <a:uFillTx/>
              <a:latin typeface="Arial"/>
            </a:endParaRPr>
          </a:p>
          <a:p>
            <a:pPr>
              <a:lnSpc>
                <a:spcPct val="100000"/>
              </a:lnSpc>
            </a:pPr>
            <a:r>
              <a:rPr b="0" lang="en-IN" sz="1000" strike="noStrike" u="none">
                <a:solidFill>
                  <a:srgbClr val="000000"/>
                </a:solidFill>
                <a:effectLst/>
                <a:uFillTx/>
                <a:latin typeface="Liberation Mono;Courier New;DejaVu Sans Mono;Lucida Sans Typewriter"/>
                <a:ea typeface="Liberation Mono;Courier New;DejaVu Sans Mono;Lucida Sans Typewriter"/>
              </a:rPr>
              <a:t>                             </a:t>
            </a:r>
            <a:r>
              <a:rPr b="1" lang="en-IN" sz="1300" strike="noStrike" u="none">
                <a:solidFill>
                  <a:srgbClr val="000000"/>
                </a:solidFill>
                <a:effectLst/>
                <a:uFillTx/>
                <a:latin typeface="Liberation Mono;Courier New;DejaVu Sans Mono;Lucida Sans Typewriter"/>
                <a:ea typeface="Liberation Mono;Courier New;DejaVu Sans Mono;Lucida Sans Typewriter"/>
              </a:rPr>
              <a:t>Initialise status[]='-</a:t>
            </a:r>
            <a:endParaRPr b="0" lang="en-IN" sz="1300" strike="noStrike" u="none">
              <a:solidFill>
                <a:srgbClr val="000000"/>
              </a:solidFill>
              <a:effectLst/>
              <a:uFillTx/>
              <a:latin typeface="Arial"/>
            </a:endParaRPr>
          </a:p>
          <a:p>
            <a:pPr>
              <a:lnSpc>
                <a:spcPct val="100000"/>
              </a:lnSpc>
            </a:pPr>
            <a:r>
              <a:rPr b="1" lang="en-IN" sz="1200" strike="noStrike" u="none">
                <a:solidFill>
                  <a:srgbClr val="000000"/>
                </a:solidFill>
                <a:effectLst/>
                <a:uFillTx/>
                <a:latin typeface="Liberation Mono;Courier New;DejaVu Sans Mono;Lucida Sans Typewriter"/>
                <a:ea typeface="Liberation Mono;Courier New;DejaVu Sans Mono;Lucida Sans Typewriter"/>
              </a:rPr>
              <a:t>                               </a:t>
            </a:r>
            <a:r>
              <a:rPr b="1" lang="en-IN" sz="1300" strike="noStrike" u="none">
                <a:solidFill>
                  <a:srgbClr val="000000"/>
                </a:solidFill>
                <a:effectLst/>
                <a:uFillTx/>
                <a:latin typeface="Liberation Mono;Courier New;DejaVu Sans Mono;Lucida Sans Typewriter"/>
                <a:ea typeface="Liberation Mono;Courier New;DejaVu Sans Mono;Lucida Sans Typewriter"/>
              </a:rPr>
              <a:t> </a:t>
            </a:r>
            <a:r>
              <a:rPr b="0" lang="en-IN" sz="2200" strike="noStrike" u="none">
                <a:solidFill>
                  <a:srgbClr val="000000"/>
                </a:solidFill>
                <a:effectLst/>
                <a:uFillTx/>
                <a:latin typeface="Liberation Mono;Courier New;DejaVu Sans Mono;Lucida Sans Typewriter"/>
                <a:ea typeface="Liberation Mono;Courier New;DejaVu Sans Mono;Lucida Sans Typewriter"/>
              </a:rPr>
              <a:t>↓</a:t>
            </a:r>
            <a:endParaRPr b="0" lang="en-IN" sz="2200" strike="noStrike" u="none">
              <a:solidFill>
                <a:srgbClr val="000000"/>
              </a:solidFill>
              <a:effectLst/>
              <a:uFillTx/>
              <a:latin typeface="Arial"/>
            </a:endParaRPr>
          </a:p>
          <a:p>
            <a:pPr>
              <a:lnSpc>
                <a:spcPct val="100000"/>
              </a:lnSpc>
            </a:pPr>
            <a:r>
              <a:rPr b="0" lang="en-IN" sz="1000" strike="noStrike" u="none">
                <a:solidFill>
                  <a:srgbClr val="000000"/>
                </a:solidFill>
                <a:effectLst/>
                <a:uFillTx/>
                <a:latin typeface="Liberation Mono;Courier New;DejaVu Sans Mono;Lucida Sans Typewriter"/>
                <a:ea typeface="Liberation Mono;Courier New;DejaVu Sans Mono;Lucida Sans Typewriter"/>
              </a:rPr>
              <a:t>                            </a:t>
            </a:r>
            <a:r>
              <a:rPr b="1" lang="en-IN" sz="1300" strike="noStrike" u="none">
                <a:solidFill>
                  <a:srgbClr val="000000"/>
                </a:solidFill>
                <a:effectLst/>
                <a:uFillTx/>
                <a:latin typeface="Liberation Mono;Courier New;DejaVu Sans Mono;Lucida Sans Typewriter"/>
                <a:ea typeface="Liberation Mono;Courier New;DejaVu Sans Mono;Lucida Sans Typewriter"/>
              </a:rPr>
              <a:t>Display Main Menu (1–8) </a:t>
            </a:r>
            <a:endParaRPr b="0" lang="en-IN" sz="1300" strike="noStrike" u="none">
              <a:solidFill>
                <a:srgbClr val="000000"/>
              </a:solidFill>
              <a:effectLst/>
              <a:uFillTx/>
              <a:latin typeface="Arial"/>
            </a:endParaRPr>
          </a:p>
          <a:p>
            <a:pPr>
              <a:lnSpc>
                <a:spcPct val="100000"/>
              </a:lnSpc>
            </a:pPr>
            <a:r>
              <a:rPr b="0" lang="en-IN" sz="1050" strike="noStrike" u="none">
                <a:solidFill>
                  <a:srgbClr val="000000"/>
                </a:solidFill>
                <a:effectLst/>
                <a:uFillTx/>
                <a:latin typeface="Liberation Mono;Courier New;DejaVu Sans Mono;Lucida Sans Typewriter"/>
                <a:ea typeface="Liberation Mono;Courier New;DejaVu Sans Mono;Lucida Sans Typewriter"/>
              </a:rPr>
              <a:t>                                     </a:t>
            </a:r>
            <a:r>
              <a:rPr b="1" lang="en-IN" sz="2200" strike="noStrike" u="none">
                <a:solidFill>
                  <a:srgbClr val="000000"/>
                </a:solidFill>
                <a:effectLst/>
                <a:uFillTx/>
                <a:latin typeface="Liberation Mono;Courier New;DejaVu Sans Mono;Lucida Sans Typewriter"/>
                <a:ea typeface="Liberation Mono;Courier New;DejaVu Sans Mono;Lucida Sans Typewriter"/>
              </a:rPr>
              <a:t>↓</a:t>
            </a:r>
            <a:endParaRPr b="0" lang="en-IN" sz="2200" strike="noStrike" u="none">
              <a:solidFill>
                <a:srgbClr val="000000"/>
              </a:solidFill>
              <a:effectLst/>
              <a:uFillTx/>
              <a:latin typeface="Arial"/>
            </a:endParaRPr>
          </a:p>
          <a:p>
            <a:pPr>
              <a:lnSpc>
                <a:spcPct val="100000"/>
              </a:lnSpc>
            </a:pPr>
            <a:r>
              <a:rPr b="0" lang="en-IN" sz="1050" strike="noStrike" u="none">
                <a:solidFill>
                  <a:srgbClr val="000000"/>
                </a:solidFill>
                <a:effectLst/>
                <a:uFillTx/>
                <a:latin typeface="Liberation Mono;Courier New;DejaVu Sans Mono;Lucida Sans Typewriter"/>
                <a:ea typeface="Liberation Mono;Courier New;DejaVu Sans Mono;Lucida Sans Typewriter"/>
              </a:rPr>
              <a:t>                             </a:t>
            </a:r>
            <a:r>
              <a:rPr b="0" lang="en-IN" sz="1000" strike="noStrike" u="none">
                <a:solidFill>
                  <a:srgbClr val="000000"/>
                </a:solidFill>
                <a:effectLst/>
                <a:uFillTx/>
                <a:latin typeface="Liberation Mono;Courier New;DejaVu Sans Mono;Lucida Sans Typewriter"/>
                <a:ea typeface="Liberation Mono;Courier New;DejaVu Sans Mono;Lucida Sans Typewriter"/>
              </a:rPr>
              <a:t> </a:t>
            </a:r>
            <a:r>
              <a:rPr b="1" lang="en-IN" sz="1300" strike="noStrike" u="none">
                <a:solidFill>
                  <a:srgbClr val="000000"/>
                </a:solidFill>
                <a:effectLst/>
                <a:uFillTx/>
                <a:latin typeface="Liberation Mono;Courier New;DejaVu Sans Mono;Lucida Sans Typewriter"/>
                <a:ea typeface="Liberation Mono;Courier New;DejaVu Sans Mono;Lucida Sans Typewriter"/>
              </a:rPr>
              <a:t>Read User Choice</a:t>
            </a:r>
            <a:r>
              <a:rPr b="1" lang="en-IN" sz="1400" strike="noStrike" u="none">
                <a:solidFill>
                  <a:srgbClr val="000000"/>
                </a:solidFill>
                <a:effectLst/>
                <a:uFillTx/>
                <a:latin typeface="Liberation Mono;Courier New;DejaVu Sans Mono;Lucida Sans Typewriter"/>
                <a:ea typeface="Liberation Mono;Courier New;DejaVu Sans Mono;Lucida Sans Typewriter"/>
              </a:rPr>
              <a:t> </a:t>
            </a:r>
            <a:r>
              <a:rPr b="1" lang="en-IN" sz="12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200" strike="noStrike" u="none">
              <a:solidFill>
                <a:srgbClr val="000000"/>
              </a:solidFill>
              <a:effectLst/>
              <a:uFillTx/>
              <a:latin typeface="Arial"/>
            </a:endParaRPr>
          </a:p>
          <a:p>
            <a:pPr>
              <a:lnSpc>
                <a:spcPct val="100000"/>
              </a:lnSpc>
            </a:pPr>
            <a:r>
              <a:rPr b="0" lang="en-IN" sz="1050" strike="noStrike" u="none">
                <a:solidFill>
                  <a:srgbClr val="000000"/>
                </a:solidFill>
                <a:effectLst/>
                <a:uFillTx/>
                <a:latin typeface="Liberation Mono;Courier New;DejaVu Sans Mono;Lucida Sans Typewriter"/>
                <a:ea typeface="Liberation Mono;Courier New;DejaVu Sans Mono;Lucida Sans Typewriter"/>
              </a:rPr>
              <a:t>                                    </a:t>
            </a:r>
            <a:r>
              <a:rPr b="0" lang="en-IN" sz="1100" strike="noStrike" u="none">
                <a:solidFill>
                  <a:srgbClr val="000000"/>
                </a:solidFill>
                <a:effectLst/>
                <a:uFillTx/>
                <a:latin typeface="Liberation Mono;Courier New;DejaVu Sans Mono;Lucida Sans Typewriter"/>
                <a:ea typeface="Liberation Mono;Courier New;DejaVu Sans Mono;Lucida Sans Typewriter"/>
              </a:rPr>
              <a:t> </a:t>
            </a:r>
            <a:r>
              <a:rPr b="1" lang="en-IN" sz="2100" strike="noStrike" u="none">
                <a:solidFill>
                  <a:srgbClr val="000000"/>
                </a:solidFill>
                <a:effectLst/>
                <a:uFillTx/>
                <a:latin typeface="Liberation Mono;Courier New;DejaVu Sans Mono;Lucida Sans Typewriter"/>
                <a:ea typeface="Liberation Mono;Courier New;DejaVu Sans Mono;Lucida Sans Typewriter"/>
              </a:rPr>
              <a:t>↓</a:t>
            </a:r>
            <a:endParaRPr b="0" lang="en-IN" sz="2100" strike="noStrike" u="none">
              <a:solidFill>
                <a:srgbClr val="000000"/>
              </a:solidFill>
              <a:effectLst/>
              <a:uFillTx/>
              <a:latin typeface="Arial"/>
            </a:endParaRPr>
          </a:p>
          <a:p>
            <a:pPr>
              <a:lnSpc>
                <a:spcPct val="100000"/>
              </a:lnSpc>
            </a:pPr>
            <a:r>
              <a:rPr b="0" lang="en-IN" sz="1050" strike="noStrike" u="none">
                <a:solidFill>
                  <a:srgbClr val="000000"/>
                </a:solidFill>
                <a:effectLst/>
                <a:uFillTx/>
                <a:latin typeface="Liberation Mono;Courier New;DejaVu Sans Mono;Lucida Sans Typewriter"/>
                <a:ea typeface="Liberation Mono;Courier New;DejaVu Sans Mono;Lucida Sans Typewriter"/>
              </a:rPr>
              <a:t>                         </a:t>
            </a:r>
            <a:r>
              <a:rPr b="1" lang="en-IN" sz="1200" strike="noStrike" u="none">
                <a:solidFill>
                  <a:srgbClr val="000000"/>
                </a:solidFill>
                <a:effectLst/>
                <a:uFillTx/>
                <a:latin typeface="Liberation Mono;Courier New;DejaVu Sans Mono;Lucida Sans Typewriter"/>
                <a:ea typeface="Liberation Mono;Courier New;DejaVu Sans Mono;Lucida Sans Typewriter"/>
              </a:rPr>
              <a:t> </a:t>
            </a:r>
            <a:r>
              <a:rPr b="1" lang="en-IN" sz="1300" strike="noStrike" u="none">
                <a:solidFill>
                  <a:srgbClr val="000000"/>
                </a:solidFill>
                <a:effectLst/>
                <a:uFillTx/>
                <a:latin typeface="Liberation Mono;Courier New;DejaVu Sans Mono;Lucida Sans Typewriter"/>
                <a:ea typeface="Liberation Mono;Courier New;DejaVu Sans Mono;Lucida Sans Typewriter"/>
              </a:rPr>
              <a:t>Perform Selected Action </a:t>
            </a:r>
            <a:endParaRPr b="0" lang="en-IN" sz="1300" strike="noStrike" u="none">
              <a:solidFill>
                <a:srgbClr val="000000"/>
              </a:solidFill>
              <a:effectLst/>
              <a:uFillTx/>
              <a:latin typeface="Arial"/>
            </a:endParaRPr>
          </a:p>
          <a:p>
            <a:pPr>
              <a:lnSpc>
                <a:spcPct val="100000"/>
              </a:lnSpc>
            </a:pPr>
            <a:r>
              <a:rPr b="1" lang="en-IN" sz="1300" strike="noStrike" u="none">
                <a:solidFill>
                  <a:srgbClr val="000000"/>
                </a:solidFill>
                <a:effectLst/>
                <a:uFillTx/>
                <a:latin typeface="Liberation Mono;Courier New;DejaVu Sans Mono;Lucida Sans Typewriter"/>
                <a:ea typeface="Liberation Mono;Courier New;DejaVu Sans Mono;Lucida Sans Typewriter"/>
              </a:rPr>
              <a:t>                     (Set Size / Mark / etc.)</a:t>
            </a:r>
            <a:endParaRPr b="0" lang="en-IN" sz="1300" strike="noStrike" u="none">
              <a:solidFill>
                <a:srgbClr val="000000"/>
              </a:solidFill>
              <a:effectLst/>
              <a:uFillTx/>
              <a:latin typeface="Arial"/>
            </a:endParaRPr>
          </a:p>
          <a:p>
            <a:pPr>
              <a:lnSpc>
                <a:spcPct val="100000"/>
              </a:lnSpc>
            </a:pPr>
            <a:r>
              <a:rPr b="0" lang="en-IN" sz="1100" strike="noStrike" u="none">
                <a:solidFill>
                  <a:srgbClr val="000000"/>
                </a:solidFill>
                <a:effectLst/>
                <a:uFillTx/>
                <a:latin typeface="Liberation Mono;Courier New;DejaVu Sans Mono;Lucida Sans Typewriter"/>
                <a:ea typeface="Liberation Mono;Courier New;DejaVu Sans Mono;Lucida Sans Typewriter"/>
              </a:rPr>
              <a:t>                                   </a:t>
            </a:r>
            <a:r>
              <a:rPr b="1" lang="en-IN" sz="2100" strike="noStrike" u="none">
                <a:solidFill>
                  <a:srgbClr val="000000"/>
                </a:solidFill>
                <a:effectLst/>
                <a:uFillTx/>
                <a:latin typeface="Liberation Mono;Courier New;DejaVu Sans Mono;Lucida Sans Typewriter"/>
                <a:ea typeface="Liberation Mono;Courier New;DejaVu Sans Mono;Lucida Sans Typewriter"/>
              </a:rPr>
              <a:t>↓</a:t>
            </a:r>
            <a:endParaRPr b="0" lang="en-IN" sz="21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a:p>
            <a:pPr>
              <a:lnSpc>
                <a:spcPct val="100000"/>
              </a:lnSpc>
            </a:pPr>
            <a:r>
              <a:rPr b="0" lang="en-IN" sz="1100" strike="noStrike" u="none">
                <a:solidFill>
                  <a:srgbClr val="000000"/>
                </a:solidFill>
                <a:effectLst/>
                <a:uFillTx/>
                <a:latin typeface="Liberation Mono;Courier New;DejaVu Sans Mono;Lucida Sans Typewriter"/>
                <a:ea typeface="Liberation Mono;Courier New;DejaVu Sans Mono;Lucida Sans Typewriter"/>
              </a:rPr>
              <a:t>                          </a:t>
            </a:r>
            <a:r>
              <a:rPr b="1" lang="en-IN" sz="1300" strike="noStrike" u="none">
                <a:solidFill>
                  <a:srgbClr val="000000"/>
                </a:solidFill>
                <a:effectLst/>
                <a:uFillTx/>
                <a:latin typeface="Liberation Mono;Courier New;DejaVu Sans Mono;Lucida Sans Typewriter"/>
                <a:ea typeface="Liberation Mono;Courier New;DejaVu Sans Mono;Lucida Sans Typewriter"/>
              </a:rPr>
              <a:t>Choice == 8 ? (Exit) </a:t>
            </a:r>
            <a:endParaRPr b="0" lang="en-IN" sz="1300" strike="noStrike" u="none">
              <a:solidFill>
                <a:srgbClr val="000000"/>
              </a:solidFill>
              <a:effectLst/>
              <a:uFillTx/>
              <a:latin typeface="Arial"/>
            </a:endParaRPr>
          </a:p>
          <a:p>
            <a:pPr>
              <a:lnSpc>
                <a:spcPct val="100000"/>
              </a:lnSpc>
            </a:pPr>
            <a:r>
              <a:rPr b="0" lang="en-IN" sz="1100" strike="noStrike" u="none">
                <a:solidFill>
                  <a:srgbClr val="000000"/>
                </a:solidFill>
                <a:effectLst/>
                <a:uFillTx/>
                <a:latin typeface="Liberation Mono;Courier New;DejaVu Sans Mono;Lucida Sans Typewriter"/>
                <a:ea typeface="Liberation Mono;Courier New;DejaVu Sans Mono;Lucida Sans Typewriter"/>
              </a:rPr>
              <a:t>                             </a:t>
            </a:r>
            <a:r>
              <a:rPr b="0" lang="en-IN" sz="1400" strike="noStrike" u="none">
                <a:solidFill>
                  <a:srgbClr val="000000"/>
                </a:solidFill>
                <a:effectLst/>
                <a:uFillTx/>
                <a:latin typeface="Liberation Mono;Courier New;DejaVu Sans Mono;Lucida Sans Typewriter"/>
                <a:ea typeface="Liberation Mono;Courier New;DejaVu Sans Mono;Lucida Sans Typewriter"/>
              </a:rPr>
              <a:t> ye</a:t>
            </a:r>
            <a:r>
              <a:rPr b="0" lang="en-IN" sz="1600" strike="noStrike" u="none">
                <a:solidFill>
                  <a:srgbClr val="000000"/>
                </a:solidFill>
                <a:effectLst/>
                <a:uFillTx/>
                <a:latin typeface="Liberation Mono;Courier New;DejaVu Sans Mono;Lucida Sans Typewriter"/>
                <a:ea typeface="Liberation Mono;Courier New;DejaVu Sans Mono;Lucida Sans Typewriter"/>
              </a:rPr>
              <a:t>s</a:t>
            </a:r>
            <a:r>
              <a:rPr b="1" lang="en-IN" sz="2800" strike="noStrike" u="none">
                <a:solidFill>
                  <a:srgbClr val="000000"/>
                </a:solidFill>
                <a:effectLst/>
                <a:uFillTx/>
                <a:latin typeface="Liberation Mono;Courier New;DejaVu Sans Mono;Lucida Sans Typewriter"/>
                <a:ea typeface="Liberation Mono;Courier New;DejaVu Sans Mono;Lucida Sans Typewriter"/>
              </a:rPr>
              <a:t>↓</a:t>
            </a:r>
            <a:r>
              <a:rPr b="0" lang="en-IN" sz="1100" strike="noStrike" u="none">
                <a:solidFill>
                  <a:srgbClr val="000000"/>
                </a:solidFill>
                <a:effectLst/>
                <a:uFillTx/>
                <a:latin typeface="Liberation Mono;Courier New;DejaVu Sans Mono;Lucida Sans Typewriter"/>
                <a:ea typeface="Liberation Mono;Courier New;DejaVu Sans Mono;Lucida Sans Typewriter"/>
              </a:rPr>
              <a:t>        </a:t>
            </a:r>
            <a:r>
              <a:rPr b="0" lang="en-IN" sz="1400" strike="noStrike" u="none">
                <a:solidFill>
                  <a:srgbClr val="000000"/>
                </a:solidFill>
                <a:effectLst/>
                <a:uFillTx/>
                <a:latin typeface="Liberation Mono;Courier New;DejaVu Sans Mono;Lucida Sans Typewriter"/>
                <a:ea typeface="Liberation Mono;Courier New;DejaVu Sans Mono;Lucida Sans Typewriter"/>
              </a:rPr>
              <a:t>no</a:t>
            </a:r>
            <a:r>
              <a:rPr b="1" lang="en-IN" sz="2800" strike="noStrike" u="none">
                <a:solidFill>
                  <a:srgbClr val="000000"/>
                </a:solidFill>
                <a:effectLst/>
                <a:uFillTx/>
                <a:latin typeface="Liberation Mono;Courier New;DejaVu Sans Mono;Lucida Sans Typewriter"/>
                <a:ea typeface="Liberation Mono;Courier New;DejaVu Sans Mono;Lucida Sans Typewriter"/>
              </a:rPr>
              <a:t>↓</a:t>
            </a:r>
            <a:endParaRPr b="0" lang="en-IN" sz="2800" strike="noStrike" u="none">
              <a:solidFill>
                <a:srgbClr val="000000"/>
              </a:solidFill>
              <a:effectLst/>
              <a:uFillTx/>
              <a:latin typeface="Arial"/>
            </a:endParaRPr>
          </a:p>
          <a:p>
            <a:pPr>
              <a:lnSpc>
                <a:spcPct val="100000"/>
              </a:lnSpc>
            </a:pPr>
            <a:r>
              <a:rPr b="0" lang="en-IN" sz="11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1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a:t>
            </a:r>
            <a:r>
              <a:rPr b="1" lang="en-IN" sz="1800" strike="noStrike" u="none">
                <a:solidFill>
                  <a:srgbClr val="000000"/>
                </a:solidFill>
                <a:effectLst/>
                <a:uFillTx/>
                <a:latin typeface="Liberation Mono;Courier New;DejaVu Sans Mono;Lucida Sans Typewriter"/>
                <a:ea typeface="Liberation Mono;Courier New;DejaVu Sans Mono;Lucida Sans Typewriter"/>
              </a:rPr>
              <a:t>  </a:t>
            </a:r>
            <a:r>
              <a:rPr b="1" lang="en-IN" sz="1400" strike="noStrike" u="none">
                <a:solidFill>
                  <a:srgbClr val="000000"/>
                </a:solidFill>
                <a:effectLst/>
                <a:uFillTx/>
                <a:latin typeface="Liberation Mono;Courier New;DejaVu Sans Mono;Lucida Sans Typewriter"/>
                <a:ea typeface="Liberation Mono;Courier New;DejaVu Sans Mono;Lucida Sans Typewriter"/>
              </a:rPr>
              <a:t>Exit  </a:t>
            </a:r>
            <a:r>
              <a:rPr b="1" lang="en-IN" sz="2600" strike="noStrike" u="none">
                <a:solidFill>
                  <a:srgbClr val="000000"/>
                </a:solidFill>
                <a:effectLst/>
                <a:uFillTx/>
                <a:latin typeface="Liberation Mono;Courier New;DejaVu Sans Mono;Lucida Sans Typewriter"/>
                <a:ea typeface="Liberation Mono;Courier New;DejaVu Sans Mono;Lucida Sans Typewriter"/>
              </a:rPr>
              <a:t>← </a:t>
            </a:r>
            <a:r>
              <a:rPr b="1" lang="en-IN" sz="1400" strike="noStrike" u="none">
                <a:solidFill>
                  <a:srgbClr val="000000"/>
                </a:solidFill>
                <a:effectLst/>
                <a:uFillTx/>
                <a:latin typeface="Liberation Mono;Courier New;DejaVu Sans Mono;Lucida Sans Typewriter"/>
                <a:ea typeface="Liberation Mono;Courier New;DejaVu Sans Mono;Lucida Sans Typewriter"/>
              </a:rPr>
              <a:t>Show Menu</a:t>
            </a:r>
            <a:r>
              <a:rPr b="0" lang="en-IN" sz="16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6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a:p>
            <a:pPr>
              <a:lnSpc>
                <a:spcPct val="100000"/>
              </a:lnSpc>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
          <p:cNvSpPr/>
          <p:nvPr/>
        </p:nvSpPr>
        <p:spPr>
          <a:xfrm>
            <a:off x="900000" y="900000"/>
            <a:ext cx="7018920" cy="4707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600" strike="noStrike" u="none">
                <a:solidFill>
                  <a:srgbClr val="000000"/>
                </a:solidFill>
                <a:effectLst/>
                <a:uFillTx/>
                <a:latin typeface="Arial"/>
                <a:ea typeface="DejaVu Sans"/>
              </a:rPr>
              <a:t>3</a:t>
            </a:r>
            <a:r>
              <a:rPr b="0" lang="en-IN" sz="2100" strike="noStrike" u="none">
                <a:solidFill>
                  <a:srgbClr val="000000"/>
                </a:solidFill>
                <a:effectLst/>
                <a:uFillTx/>
                <a:latin typeface="Arial"/>
                <a:ea typeface="DejaVu Sans"/>
              </a:rPr>
              <a:t>. Algorithm Outline</a:t>
            </a:r>
            <a:endParaRPr b="0" lang="en-IN" sz="2100" strike="noStrike" u="none">
              <a:solidFill>
                <a:srgbClr val="000000"/>
              </a:solidFill>
              <a:effectLst/>
              <a:uFillTx/>
              <a:latin typeface="Arial"/>
            </a:endParaRPr>
          </a:p>
          <a:p>
            <a:pPr>
              <a:lnSpc>
                <a:spcPct val="100000"/>
              </a:lnSpc>
            </a:pPr>
            <a:endParaRPr b="0" lang="en-IN" sz="2000" strike="noStrike" u="none">
              <a:solidFill>
                <a:srgbClr val="000000"/>
              </a:solidFill>
              <a:effectLst/>
              <a:uFillTx/>
              <a:latin typeface="Arial"/>
            </a:endParaRPr>
          </a:p>
          <a:p>
            <a:pPr>
              <a:lnSpc>
                <a:spcPct val="100000"/>
              </a:lnSpc>
            </a:pPr>
            <a:r>
              <a:rPr b="0" lang="en-IN" sz="1600" strike="noStrike" u="none">
                <a:solidFill>
                  <a:srgbClr val="000000"/>
                </a:solidFill>
                <a:effectLst/>
                <a:uFillTx/>
                <a:latin typeface="Arial"/>
                <a:ea typeface="DejaVu Sans"/>
              </a:rPr>
              <a:t>           </a:t>
            </a:r>
            <a:r>
              <a:rPr b="1" lang="en-IN" sz="1800" strike="noStrike" u="none">
                <a:solidFill>
                  <a:srgbClr val="000000"/>
                </a:solidFill>
                <a:effectLst/>
                <a:uFillTx/>
                <a:latin typeface="Arial"/>
                <a:ea typeface="DejaVu Sans"/>
              </a:rPr>
              <a:t>Step 1</a:t>
            </a:r>
            <a:r>
              <a:rPr b="0" lang="en-IN" sz="1800" strike="noStrike" u="none">
                <a:solidFill>
                  <a:srgbClr val="000000"/>
                </a:solidFill>
                <a:effectLst/>
                <a:uFillTx/>
                <a:latin typeface="Arial"/>
                <a:ea typeface="DejaVu Sans"/>
              </a:rPr>
              <a:t>: Start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r>
              <a:rPr b="1" lang="en-IN" sz="1800" strike="noStrike" u="none">
                <a:solidFill>
                  <a:srgbClr val="000000"/>
                </a:solidFill>
                <a:effectLst/>
                <a:uFillTx/>
                <a:latin typeface="Arial"/>
                <a:ea typeface="DejaVu Sans"/>
              </a:rPr>
              <a:t>Step 2</a:t>
            </a:r>
            <a:r>
              <a:rPr b="0" lang="en-IN" sz="1800" strike="noStrike" u="none">
                <a:solidFill>
                  <a:srgbClr val="000000"/>
                </a:solidFill>
                <a:effectLst/>
                <a:uFillTx/>
                <a:latin typeface="Arial"/>
                <a:ea typeface="DejaVu Sans"/>
              </a:rPr>
              <a:t>: Display main menu</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r>
              <a:rPr b="1" lang="en-IN" sz="1800" strike="noStrike" u="none">
                <a:solidFill>
                  <a:srgbClr val="000000"/>
                </a:solidFill>
                <a:effectLst/>
                <a:uFillTx/>
                <a:latin typeface="Arial"/>
                <a:ea typeface="DejaVu Sans"/>
              </a:rPr>
              <a:t>Step 3:</a:t>
            </a:r>
            <a:r>
              <a:rPr b="0" lang="en-IN" sz="1800" strike="noStrike" u="none">
                <a:solidFill>
                  <a:srgbClr val="000000"/>
                </a:solidFill>
                <a:effectLst/>
                <a:uFillTx/>
                <a:latin typeface="Arial"/>
                <a:ea typeface="DejaVu Sans"/>
              </a:rPr>
              <a:t> Get user choice</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r>
              <a:rPr b="1" lang="en-IN" sz="1800" strike="noStrike" u="none">
                <a:solidFill>
                  <a:srgbClr val="000000"/>
                </a:solidFill>
                <a:effectLst/>
                <a:uFillTx/>
                <a:latin typeface="Arial"/>
                <a:ea typeface="DejaVu Sans"/>
              </a:rPr>
              <a:t>Step 4</a:t>
            </a:r>
            <a:r>
              <a:rPr b="0" lang="en-IN" sz="1800" strike="noStrike" u="none">
                <a:solidFill>
                  <a:srgbClr val="000000"/>
                </a:solidFill>
                <a:effectLst/>
                <a:uFillTx/>
                <a:latin typeface="Arial"/>
                <a:ea typeface="DejaVu Sans"/>
              </a:rPr>
              <a:t>: Uses switchcase,</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1 → Set/Change class size</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2 → Mark attendance (P/A) for all roll</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3 → Update one roll</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4 → Show summary</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5 → Show present list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6 → Show absent list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7 → Reset session</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8 → Exit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r>
              <a:rPr b="1" lang="en-IN" sz="1800" strike="noStrike" u="none">
                <a:solidFill>
                  <a:srgbClr val="000000"/>
                </a:solidFill>
                <a:effectLst/>
                <a:uFillTx/>
                <a:latin typeface="Arial"/>
                <a:ea typeface="DejaVu Sans"/>
              </a:rPr>
              <a:t>Step 5:</a:t>
            </a:r>
            <a:r>
              <a:rPr b="0" lang="en-IN" sz="1800" strike="noStrike" u="none">
                <a:solidFill>
                  <a:srgbClr val="000000"/>
                </a:solidFill>
                <a:effectLst/>
                <a:uFillTx/>
                <a:latin typeface="Arial"/>
                <a:ea typeface="DejaVu Sans"/>
              </a:rPr>
              <a:t> Repeat until user selects Exit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a:t>
            </a:r>
            <a:r>
              <a:rPr b="1" lang="en-IN" sz="1800" strike="noStrike" u="none">
                <a:solidFill>
                  <a:srgbClr val="000000"/>
                </a:solidFill>
                <a:effectLst/>
                <a:uFillTx/>
                <a:latin typeface="Arial"/>
                <a:ea typeface="DejaVu Sans"/>
              </a:rPr>
              <a:t>Step 6</a:t>
            </a:r>
            <a:r>
              <a:rPr b="0" lang="en-IN" sz="1800" strike="noStrike" u="none">
                <a:solidFill>
                  <a:srgbClr val="000000"/>
                </a:solidFill>
                <a:effectLst/>
                <a:uFillTx/>
                <a:latin typeface="Arial"/>
                <a:ea typeface="DejaVu Sans"/>
              </a:rPr>
              <a:t>: Stop</a:t>
            </a:r>
            <a:endParaRPr b="0" lang="en-IN" sz="18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
          <p:cNvSpPr/>
          <p:nvPr/>
        </p:nvSpPr>
        <p:spPr>
          <a:xfrm>
            <a:off x="1080000" y="755280"/>
            <a:ext cx="6532920" cy="4341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IN" sz="1600" strike="noStrike" u="none">
                <a:solidFill>
                  <a:srgbClr val="000000"/>
                </a:solidFill>
                <a:effectLst/>
                <a:uFillTx/>
                <a:latin typeface="Arial"/>
                <a:ea typeface="DejaVu Sans"/>
              </a:rPr>
              <a:t>4</a:t>
            </a:r>
            <a:r>
              <a:rPr b="0" i="1" lang="en-IN" sz="2000" strike="noStrike" u="none">
                <a:solidFill>
                  <a:srgbClr val="000000"/>
                </a:solidFill>
                <a:effectLst/>
                <a:uFillTx/>
                <a:latin typeface="Arial"/>
                <a:ea typeface="DejaVu Sans"/>
              </a:rPr>
              <a:t>. Block Diagram (System Modules)</a:t>
            </a:r>
            <a:endParaRPr b="0" lang="en-IN" sz="2000" strike="noStrike" u="none">
              <a:solidFill>
                <a:srgbClr val="000000"/>
              </a:solidFill>
              <a:effectLst/>
              <a:uFillTx/>
              <a:latin typeface="Arial"/>
            </a:endParaRPr>
          </a:p>
          <a:p>
            <a:pPr>
              <a:lnSpc>
                <a:spcPct val="100000"/>
              </a:lnSpc>
            </a:pPr>
            <a:endParaRPr b="0" lang="en-IN" sz="2000" strike="noStrike" u="none">
              <a:solidFill>
                <a:srgbClr val="000000"/>
              </a:solidFill>
              <a:effectLst/>
              <a:uFillTx/>
              <a:latin typeface="Arial"/>
            </a:endParaRPr>
          </a:p>
          <a:p>
            <a:pPr>
              <a:lnSpc>
                <a:spcPct val="100000"/>
              </a:lnSpc>
            </a:pPr>
            <a:r>
              <a:rPr b="0" lang="en-IN" sz="13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300" strike="noStrike" u="none">
              <a:solidFill>
                <a:srgbClr val="000000"/>
              </a:solidFill>
              <a:effectLst/>
              <a:uFillTx/>
              <a:latin typeface="Arial"/>
            </a:endParaRPr>
          </a:p>
          <a:p>
            <a:pPr>
              <a:lnSpc>
                <a:spcPct val="100000"/>
              </a:lnSpc>
            </a:pPr>
            <a:r>
              <a:rPr b="0" lang="en-IN" sz="13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300" strike="noStrike" u="none">
              <a:solidFill>
                <a:srgbClr val="000000"/>
              </a:solidFill>
              <a:effectLst/>
              <a:uFillTx/>
              <a:latin typeface="Arial"/>
            </a:endParaRPr>
          </a:p>
          <a:p>
            <a:pPr>
              <a:lnSpc>
                <a:spcPct val="100000"/>
              </a:lnSpc>
            </a:pPr>
            <a:r>
              <a:rPr b="0" lang="en-IN" sz="1300" strike="noStrike" u="none">
                <a:solidFill>
                  <a:srgbClr val="000000"/>
                </a:solidFill>
                <a:effectLst/>
                <a:uFillTx/>
                <a:latin typeface="Liberation Mono;Courier New;DejaVu Sans Mono;Lucida Sans Typewriter"/>
                <a:ea typeface="Liberation Mono;Courier New;DejaVu Sans Mono;Lucida Sans Typewriter"/>
              </a:rPr>
              <a:t>    </a:t>
            </a:r>
            <a:r>
              <a:rPr b="0" lang="en-IN" sz="1800" strike="noStrike" u="none">
                <a:solidFill>
                  <a:srgbClr val="000000"/>
                </a:solidFill>
                <a:effectLst/>
                <a:uFillTx/>
                <a:latin typeface="Liberation Mono;Courier New;DejaVu Sans Mono;Lucida Sans Typewriter"/>
                <a:ea typeface="Liberation Mono;Courier New;DejaVu Sans Mono;Lucida Sans Typewriter"/>
              </a:rPr>
              <a:t>1. Input Module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 Accepts class size, roll updates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2. Processing Module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 Marks attendance, updates records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3. Display Module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 Shows summary, present &amp; absent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4. Control Module                       </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Liberation Mono;Courier New;DejaVu Sans Mono;Lucida Sans Typewriter"/>
                <a:ea typeface="Liberation Mono;Courier New;DejaVu Sans Mono;Lucida Sans Typewriter"/>
              </a:rPr>
              <a:t>       → Handles menu navigation &amp; choices </a:t>
            </a:r>
            <a:r>
              <a:rPr b="0" lang="en-IN" sz="15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500" strike="noStrike" u="none">
              <a:solidFill>
                <a:srgbClr val="000000"/>
              </a:solidFill>
              <a:effectLst/>
              <a:uFillTx/>
              <a:latin typeface="Arial"/>
            </a:endParaRPr>
          </a:p>
          <a:p>
            <a:pPr>
              <a:lnSpc>
                <a:spcPct val="100000"/>
              </a:lnSpc>
            </a:pPr>
            <a:r>
              <a:rPr b="0" lang="en-IN" sz="1500" strike="noStrike" u="none">
                <a:solidFill>
                  <a:srgbClr val="000000"/>
                </a:solidFill>
                <a:effectLst/>
                <a:uFillTx/>
                <a:latin typeface="Liberation Mono;Courier New;DejaVu Sans Mono;Lucida Sans Typewriter"/>
                <a:ea typeface="Liberation Mono;Courier New;DejaVu Sans Mono;Lucida Sans Typewriter"/>
              </a:rPr>
              <a:t> </a:t>
            </a:r>
            <a:endParaRPr b="0" lang="en-IN"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Rectangle 4">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01" name="Rectangle 5">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02"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Module Description</a:t>
            </a:r>
            <a:endParaRPr b="0" lang="en-IN" sz="5000" strike="noStrike" u="none">
              <a:solidFill>
                <a:srgbClr val="000000"/>
              </a:solidFill>
              <a:effectLst/>
              <a:uFillTx/>
              <a:latin typeface="Arial"/>
            </a:endParaRPr>
          </a:p>
        </p:txBody>
      </p:sp>
      <p:sp>
        <p:nvSpPr>
          <p:cNvPr id="103" name="Rectangle 6">
            <a:extLst>
              <a:ext uri="{C183D7F6-B498-43B3-948B-1728B52AA6E4}">
                <adec:decorative xmlns:adec="http://schemas.microsoft.com/office/drawing/2017/decorative" val="1"/>
              </a:ext>
            </a:extLst>
          </p:cNvPr>
          <p:cNvSpPr/>
          <p:nvPr/>
        </p:nvSpPr>
        <p:spPr>
          <a:xfrm>
            <a:off x="0" y="0"/>
            <a:ext cx="2602800" cy="684000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04" name="Straight Connector 8">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05" name="PlaceHolder 2"/>
          <p:cNvSpPr>
            <a:spLocks noGrp="1"/>
          </p:cNvSpPr>
          <p:nvPr>
            <p:ph/>
          </p:nvPr>
        </p:nvSpPr>
        <p:spPr>
          <a:xfrm>
            <a:off x="3469320" y="1980000"/>
            <a:ext cx="7971120" cy="4860000"/>
          </a:xfrm>
          <a:prstGeom prst="rect">
            <a:avLst/>
          </a:prstGeom>
          <a:noFill/>
          <a:ln w="0">
            <a:noFill/>
          </a:ln>
        </p:spPr>
        <p:txBody>
          <a:bodyPr lIns="45720" rIns="45720" tIns="45720" bIns="45720" anchor="t">
            <a:normAutofit fontScale="40000" lnSpcReduction="19999"/>
          </a:bodyPr>
          <a:p>
            <a:pPr indent="0" defTabSz="914400">
              <a:lnSpc>
                <a:spcPct val="90000"/>
              </a:lnSpc>
              <a:spcBef>
                <a:spcPts val="1191"/>
              </a:spcBef>
              <a:spcAft>
                <a:spcPts val="992"/>
              </a:spcAft>
              <a:buNone/>
              <a:tabLst>
                <a:tab algn="l" pos="0"/>
              </a:tabLst>
            </a:pPr>
            <a:endParaRPr b="0" lang="en-IN" sz="32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5400" strike="noStrike" u="none">
                <a:solidFill>
                  <a:schemeClr val="dk1"/>
                </a:solidFill>
                <a:effectLst/>
                <a:uFillTx/>
                <a:latin typeface="Tw Cen MT"/>
              </a:rPr>
              <a:t>I</a:t>
            </a:r>
            <a:r>
              <a:rPr b="0" lang="en-US" sz="6000" strike="noStrike" u="none">
                <a:solidFill>
                  <a:schemeClr val="dk1"/>
                </a:solidFill>
                <a:effectLst/>
                <a:uFillTx/>
                <a:latin typeface="Tw Cen MT"/>
              </a:rPr>
              <a:t>nput Module – Takes user input for class size, attendance (P/A), and roll updates. Performs validation to ensure correctness.</a:t>
            </a:r>
            <a:endParaRPr b="0" lang="en-IN" sz="60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6000" strike="noStrike" u="none">
                <a:solidFill>
                  <a:schemeClr val="dk1"/>
                </a:solidFill>
                <a:effectLst/>
                <a:uFillTx/>
                <a:latin typeface="Tw Cen MT"/>
              </a:rPr>
              <a:t>Processing Module – Handles logic for marking attendance, updating rolls, counting present/absent, and calculating percentage.</a:t>
            </a:r>
            <a:endParaRPr b="0" lang="en-IN" sz="60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6000" strike="noStrike" u="none">
                <a:solidFill>
                  <a:schemeClr val="dk1"/>
                </a:solidFill>
                <a:effectLst/>
                <a:uFillTx/>
                <a:latin typeface="Tw Cen MT"/>
              </a:rPr>
              <a:t>Output Module – Displays the attendance summary, present and absent lists, and confirmation messages to the user.</a:t>
            </a:r>
            <a:endParaRPr b="0" lang="en-IN" sz="60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6000" strike="noStrike" u="none">
                <a:solidFill>
                  <a:schemeClr val="dk1"/>
                </a:solidFill>
                <a:effectLst/>
                <a:uFillTx/>
                <a:latin typeface="Tw Cen MT"/>
              </a:rPr>
              <a:t>Control Module – Manages the main menu and coordinates function calls for each selected operation.</a:t>
            </a:r>
            <a:endParaRPr b="0" lang="en-IN" sz="60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endParaRPr b="0" lang="en-IN" sz="54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b="0" lang="en-US" sz="1800" strike="noStrike" u="none">
                <a:solidFill>
                  <a:schemeClr val="dk1"/>
                </a:solidFill>
                <a:effectLst/>
                <a:uFillTx/>
                <a:latin typeface="Tw Cen MT"/>
              </a:rPr>
              <a:t> </a:t>
            </a:r>
            <a:endParaRPr b="0" lang="en-IN" sz="1800" strike="noStrike" u="none">
              <a:solidFill>
                <a:srgbClr val="000000"/>
              </a:solidFill>
              <a:effectLst/>
              <a:uFillTx/>
              <a:latin typeface="Arial"/>
            </a:endParaRPr>
          </a:p>
        </p:txBody>
      </p:sp>
      <p:pic>
        <p:nvPicPr>
          <p:cNvPr id="106"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07"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8">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09" name="Rectangle 10">
            <a:extLst>
              <a:ext uri="{C183D7F6-B498-43B3-948B-1728B52AA6E4}">
                <adec:decorative xmlns:adec="http://schemas.microsoft.com/office/drawing/2017/decorative" val="1"/>
              </a:ext>
            </a:extLst>
          </p:cNvPr>
          <p:cNvSpPr/>
          <p:nvPr/>
        </p:nvSpPr>
        <p:spPr>
          <a:xfrm>
            <a:off x="2602800" y="90000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10" name="PlaceHolder 1"/>
          <p:cNvSpPr>
            <a:spLocks noGrp="1"/>
          </p:cNvSpPr>
          <p:nvPr>
            <p:ph type="title"/>
          </p:nvPr>
        </p:nvSpPr>
        <p:spPr>
          <a:xfrm>
            <a:off x="3418200" y="5400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Algorithm / Flowchart</a:t>
            </a:r>
            <a:endParaRPr b="0" lang="en-IN" sz="5000" strike="noStrike" u="none">
              <a:solidFill>
                <a:srgbClr val="000000"/>
              </a:solidFill>
              <a:effectLst/>
              <a:uFillTx/>
              <a:latin typeface="Arial"/>
            </a:endParaRPr>
          </a:p>
        </p:txBody>
      </p:sp>
      <p:sp>
        <p:nvSpPr>
          <p:cNvPr id="111" name="Rectangle 12">
            <a:extLst>
              <a:ext uri="{C183D7F6-B498-43B3-948B-1728B52AA6E4}">
                <adec:decorative xmlns:adec="http://schemas.microsoft.com/office/drawing/2017/decorative" val="1"/>
              </a:ext>
            </a:extLst>
          </p:cNvPr>
          <p:cNvSpPr/>
          <p:nvPr/>
        </p:nvSpPr>
        <p:spPr>
          <a:xfrm>
            <a:off x="0" y="0"/>
            <a:ext cx="2602800" cy="685656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12" name="Straight Connector 2">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pic>
        <p:nvPicPr>
          <p:cNvPr id="113" name="Picture 2"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14" name="Title 5"/>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
        <p:nvSpPr>
          <p:cNvPr id="115" name=""/>
          <p:cNvSpPr/>
          <p:nvPr/>
        </p:nvSpPr>
        <p:spPr>
          <a:xfrm>
            <a:off x="3240000" y="1944720"/>
            <a:ext cx="7985160" cy="5088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11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1: Start the program</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2: Initialise necessary variables and arrays for storing attendance data</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3: Display the main menu with available options</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4: Get user input (choice)</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5:</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1 → Set/Change class size</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2 → Mark all present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3 → Update one roll number</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4 → Show summary</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5 → Show present list</a:t>
            </a:r>
            <a:endParaRPr b="0" lang="en-IN" sz="1800" strike="noStrike" u="none">
              <a:solidFill>
                <a:srgbClr val="000000"/>
              </a:solidFill>
              <a:effectLst/>
              <a:uFillTx/>
              <a:latin typeface="Arial"/>
            </a:endParaRPr>
          </a:p>
          <a:p>
            <a:pPr>
              <a:lnSpc>
                <a:spcPct val="100000"/>
              </a:lnSpc>
            </a:pPr>
            <a:r>
              <a:rPr b="0" lang="en-IN" sz="1800" strike="noStrike" u="none">
                <a:solidFill>
                  <a:srgbClr val="404040"/>
                </a:solidFill>
                <a:effectLst/>
                <a:uFillTx/>
                <a:latin typeface="Arial"/>
                <a:ea typeface="DejaVu Sans"/>
              </a:rPr>
              <a:t>    </a:t>
            </a:r>
            <a:r>
              <a:rPr b="0" lang="en-IN" sz="1600" strike="noStrike" u="none">
                <a:solidFill>
                  <a:srgbClr val="404040"/>
                </a:solidFill>
                <a:effectLst/>
                <a:uFillTx/>
                <a:latin typeface="Arial"/>
                <a:ea typeface="DejaVu Sans"/>
              </a:rPr>
              <a:t>   </a:t>
            </a:r>
            <a:r>
              <a:rPr b="0" lang="en-IN" sz="1800" strike="noStrike" u="none">
                <a:solidFill>
                  <a:srgbClr val="000000"/>
                </a:solidFill>
                <a:effectLst/>
                <a:uFillTx/>
                <a:latin typeface="Arial"/>
                <a:ea typeface="DejaVu Sans"/>
              </a:rPr>
              <a:t>If choice = 6 → Show absent list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7 → Reset session</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  If choice = 8 → Exit</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6: Perform the selected operation</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7: Display the result or updated status to the user</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8: Repeat steps 3–7 until the user exits</a:t>
            </a:r>
            <a:endParaRPr b="0" lang="en-IN" sz="1800" strike="noStrike" u="none">
              <a:solidFill>
                <a:srgbClr val="000000"/>
              </a:solidFill>
              <a:effectLst/>
              <a:uFillTx/>
              <a:latin typeface="Arial"/>
            </a:endParaRPr>
          </a:p>
          <a:p>
            <a:pPr>
              <a:lnSpc>
                <a:spcPct val="100000"/>
              </a:lnSpc>
            </a:pPr>
            <a:r>
              <a:rPr b="0" lang="en-IN" sz="1800" strike="noStrike" u="none">
                <a:solidFill>
                  <a:srgbClr val="000000"/>
                </a:solidFill>
                <a:effectLst/>
                <a:uFillTx/>
                <a:latin typeface="Arial"/>
                <a:ea typeface="DejaVu Sans"/>
              </a:rPr>
              <a:t>Step 9: Stop the program</a:t>
            </a:r>
            <a:endParaRPr b="0" lang="en-IN" sz="1800" strike="noStrike" u="none">
              <a:solidFill>
                <a:srgbClr val="000000"/>
              </a:solidFill>
              <a:effectLst/>
              <a:uFillTx/>
              <a:latin typeface="Arial"/>
            </a:endParaRPr>
          </a:p>
          <a:p>
            <a:pPr>
              <a:lnSpc>
                <a:spcPct val="100000"/>
              </a:lnSpc>
            </a:pPr>
            <a:r>
              <a:rPr b="0" lang="en-IN" sz="1100" strike="noStrike" u="none">
                <a:solidFill>
                  <a:srgbClr val="000000"/>
                </a:solidFill>
                <a:effectLst/>
                <a:uFillTx/>
                <a:latin typeface="Arial"/>
                <a:ea typeface="DejaVu Sans"/>
              </a:rPr>
              <a:t>  </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
          <p:cNvSpPr/>
          <p:nvPr/>
        </p:nvSpPr>
        <p:spPr>
          <a:xfrm>
            <a:off x="1112400" y="180000"/>
            <a:ext cx="5546520" cy="6487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11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a:p>
            <a:pPr>
              <a:lnSpc>
                <a:spcPct val="100000"/>
              </a:lnSpc>
            </a:pPr>
            <a:r>
              <a:rPr b="1" i="1" lang="en-IN" sz="2200" strike="noStrike" u="sng">
                <a:solidFill>
                  <a:srgbClr val="000000"/>
                </a:solidFill>
                <a:effectLst/>
                <a:uFillTx/>
                <a:latin typeface="Arial"/>
                <a:ea typeface="DejaVu Sans"/>
              </a:rPr>
              <a:t>Flowchart</a:t>
            </a:r>
            <a:endParaRPr b="0" lang="en-IN" sz="2200" strike="noStrike" u="none">
              <a:solidFill>
                <a:srgbClr val="000000"/>
              </a:solidFill>
              <a:effectLst/>
              <a:uFillTx/>
              <a:latin typeface="Arial"/>
            </a:endParaRPr>
          </a:p>
          <a:p>
            <a:pPr>
              <a:lnSpc>
                <a:spcPct val="100000"/>
              </a:lnSpc>
            </a:pPr>
            <a:endParaRPr b="0" lang="en-IN" sz="1600" strike="noStrike" u="none">
              <a:solidFill>
                <a:srgbClr val="000000"/>
              </a:solidFill>
              <a:effectLst/>
              <a:uFillTx/>
              <a:latin typeface="Arial"/>
            </a:endParaRPr>
          </a:p>
          <a:p>
            <a:pPr>
              <a:lnSpc>
                <a:spcPct val="100000"/>
              </a:lnSpc>
            </a:pPr>
            <a:r>
              <a:rPr b="0" lang="en-IN" sz="1100" strike="noStrike" u="none">
                <a:solidFill>
                  <a:srgbClr val="000000"/>
                </a:solidFill>
                <a:effectLst/>
                <a:uFillTx/>
                <a:latin typeface="Liberation Mono;Courier New;DejaVu Sans Mono;Lucida Sans Typewriter"/>
                <a:ea typeface="DejaVu Sans"/>
              </a:rPr>
              <a:t>           </a:t>
            </a:r>
            <a:endParaRPr b="0" lang="en-IN" sz="1100" strike="noStrike" u="none">
              <a:solidFill>
                <a:srgbClr val="000000"/>
              </a:solidFill>
              <a:effectLst/>
              <a:uFillTx/>
              <a:latin typeface="Arial"/>
            </a:endParaRPr>
          </a:p>
          <a:p>
            <a:pPr>
              <a:lnSpc>
                <a:spcPct val="100000"/>
              </a:lnSpc>
            </a:pPr>
            <a:r>
              <a:rPr b="0" lang="en-IN" sz="1100" strike="noStrike" u="none">
                <a:solidFill>
                  <a:srgbClr val="000000"/>
                </a:solidFill>
                <a:effectLst/>
                <a:uFillTx/>
                <a:latin typeface="Liberation Mono;Courier New;DejaVu Sans Mono;Lucida Sans Typewriter"/>
                <a:ea typeface="DejaVu Sans"/>
              </a:rPr>
              <a:t>                     </a:t>
            </a:r>
            <a:r>
              <a:rPr b="0" lang="en-IN" sz="1200" strike="noStrike" u="none">
                <a:solidFill>
                  <a:srgbClr val="000000"/>
                </a:solidFill>
                <a:effectLst/>
                <a:uFillTx/>
                <a:latin typeface="Liberation Mono;Courier New;DejaVu Sans Mono;Lucida Sans Typewriter"/>
                <a:ea typeface="DejaVu Sans"/>
              </a:rPr>
              <a:t> </a:t>
            </a:r>
            <a:r>
              <a:rPr b="1" lang="en-IN" sz="1600" strike="noStrike" u="none">
                <a:solidFill>
                  <a:srgbClr val="000000"/>
                </a:solidFill>
                <a:effectLst/>
                <a:uFillTx/>
                <a:latin typeface="Liberation Mono;Courier New;DejaVu Sans Mono;Lucida Sans Typewriter"/>
                <a:ea typeface="DejaVu Sans"/>
              </a:rPr>
              <a:t>Start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Initialise Data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Get User Input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Process Data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Display Output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a:t>
            </a:r>
            <a:endParaRPr b="0" lang="en-IN" sz="1600" strike="noStrike" u="none">
              <a:solidFill>
                <a:srgbClr val="000000"/>
              </a:solidFill>
              <a:effectLst/>
              <a:uFillTx/>
              <a:latin typeface="Arial"/>
            </a:endParaRPr>
          </a:p>
          <a:p>
            <a:pPr>
              <a:lnSpc>
                <a:spcPct val="100000"/>
              </a:lnSpc>
            </a:pPr>
            <a:r>
              <a:rPr b="1" lang="en-IN" sz="1600" strike="noStrike" u="none">
                <a:solidFill>
                  <a:srgbClr val="000000"/>
                </a:solidFill>
                <a:effectLst/>
                <a:uFillTx/>
                <a:latin typeface="Liberation Mono;Courier New;DejaVu Sans Mono;Lucida Sans Typewriter"/>
                <a:ea typeface="DejaVu Sans"/>
              </a:rPr>
              <a:t>                 Stop        </a:t>
            </a:r>
            <a:endParaRPr b="0" lang="en-IN" sz="1600" strike="noStrike" u="none">
              <a:solidFill>
                <a:srgbClr val="000000"/>
              </a:solidFill>
              <a:effectLst/>
              <a:uFillTx/>
              <a:latin typeface="Arial"/>
            </a:endParaRPr>
          </a:p>
          <a:p>
            <a:pPr>
              <a:lnSpc>
                <a:spcPct val="100000"/>
              </a:lnSpc>
            </a:pPr>
            <a:r>
              <a:rPr b="1" lang="en-IN" sz="1400" strike="noStrike" u="none">
                <a:solidFill>
                  <a:srgbClr val="000000"/>
                </a:solidFill>
                <a:effectLst/>
                <a:uFillTx/>
                <a:latin typeface="Liberation Mono;Courier New;DejaVu Sans Mono;Lucida Sans Typewriter"/>
                <a:ea typeface="DejaVu Sans"/>
              </a:rPr>
              <a:t>       </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Rectangle 1">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18" name="Rectangle 2">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19"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Implementation</a:t>
            </a:r>
            <a:endParaRPr b="0" lang="en-IN" sz="5000" strike="noStrike" u="none">
              <a:solidFill>
                <a:srgbClr val="000000"/>
              </a:solidFill>
              <a:effectLst/>
              <a:uFillTx/>
              <a:latin typeface="Arial"/>
            </a:endParaRPr>
          </a:p>
        </p:txBody>
      </p:sp>
      <p:sp>
        <p:nvSpPr>
          <p:cNvPr id="120" name="Rectangle 3">
            <a:extLst>
              <a:ext uri="{C183D7F6-B498-43B3-948B-1728B52AA6E4}">
                <adec:decorative xmlns:adec="http://schemas.microsoft.com/office/drawing/2017/decorative" val="1"/>
              </a:ext>
            </a:extLst>
          </p:cNvPr>
          <p:cNvSpPr/>
          <p:nvPr/>
        </p:nvSpPr>
        <p:spPr>
          <a:xfrm rot="21594000">
            <a:off x="5760" y="-2160"/>
            <a:ext cx="2597040" cy="684216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21" name="Straight Connector 1">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22" name="PlaceHolder 2"/>
          <p:cNvSpPr>
            <a:spLocks noGrp="1"/>
          </p:cNvSpPr>
          <p:nvPr>
            <p:ph/>
          </p:nvPr>
        </p:nvSpPr>
        <p:spPr>
          <a:xfrm>
            <a:off x="3469320" y="2160000"/>
            <a:ext cx="7921800" cy="3882240"/>
          </a:xfrm>
          <a:prstGeom prst="rect">
            <a:avLst/>
          </a:prstGeom>
          <a:noFill/>
          <a:ln w="0">
            <a:noFill/>
          </a:ln>
        </p:spPr>
        <p:txBody>
          <a:bodyPr lIns="45720" rIns="45720" tIns="45720" bIns="45720" anchor="t">
            <a:normAutofit fontScale="92500" lnSpcReduction="9999"/>
          </a:bodyPr>
          <a:p>
            <a:pPr indent="0" defTabSz="914400">
              <a:lnSpc>
                <a:spcPct val="90000"/>
              </a:lnSpc>
              <a:spcBef>
                <a:spcPts val="1191"/>
              </a:spcBef>
              <a:spcAft>
                <a:spcPts val="992"/>
              </a:spcAft>
              <a:buNone/>
              <a:tabLst>
                <a:tab algn="l" pos="0"/>
              </a:tabLst>
            </a:pPr>
            <a:r>
              <a:rPr b="1" i="1" lang="en-US" sz="2400" strike="noStrike" u="none">
                <a:solidFill>
                  <a:schemeClr val="dk1"/>
                </a:solidFill>
                <a:effectLst/>
                <a:uFillTx/>
                <a:latin typeface="Tw Cen MT"/>
              </a:rPr>
              <a:t>Techniques Used:</a:t>
            </a:r>
            <a:r>
              <a:rPr b="0" i="1" lang="en-US" sz="2100" strike="noStrike" u="none">
                <a:solidFill>
                  <a:schemeClr val="dk1"/>
                </a:solidFill>
                <a:effectLst/>
                <a:uFillTx/>
                <a:latin typeface="Tw Cen MT"/>
              </a:rPr>
              <a:t> </a:t>
            </a:r>
            <a:endParaRPr b="0" i="1" lang="en-IN" sz="21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100" strike="noStrike" u="none">
                <a:solidFill>
                  <a:schemeClr val="dk1"/>
                </a:solidFill>
                <a:effectLst/>
                <a:uFillTx/>
                <a:latin typeface="Tw Cen MT"/>
              </a:rPr>
              <a:t>Loops and Conditional Statements – Used for menu repetition, roll marking, and decision-making (for, while, if-else, switch).</a:t>
            </a:r>
            <a:endParaRPr b="0" i="1" lang="en-IN" sz="21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100" strike="noStrike" u="none">
                <a:solidFill>
                  <a:schemeClr val="dk1"/>
                </a:solidFill>
                <a:effectLst/>
                <a:uFillTx/>
                <a:latin typeface="Tw Cen MT"/>
              </a:rPr>
              <a:t>Functions – Each operation (set class size, mark all, update, summary, etc.) is written as a separate function.</a:t>
            </a:r>
            <a:endParaRPr b="0" i="1" lang="en-IN" sz="21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100" strike="noStrike" u="none">
                <a:solidFill>
                  <a:schemeClr val="dk1"/>
                </a:solidFill>
                <a:effectLst/>
                <a:uFillTx/>
                <a:latin typeface="Tw Cen MT"/>
              </a:rPr>
              <a:t>Arrays – A 1D array status[MAX] is used to store attendance for each student.</a:t>
            </a:r>
            <a:endParaRPr b="0" i="1" lang="en-IN" sz="21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100" strike="noStrike" u="none">
                <a:solidFill>
                  <a:schemeClr val="dk1"/>
                </a:solidFill>
                <a:effectLst/>
                <a:uFillTx/>
                <a:latin typeface="Tw Cen MT"/>
              </a:rPr>
              <a:t>Input Validation – Ensures only valid inputs (P, A, or valid roll numbers) are accepted.</a:t>
            </a:r>
            <a:endParaRPr b="0" i="1" lang="en-IN" sz="21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100" strike="noStrike" u="none">
                <a:solidFill>
                  <a:schemeClr val="dk1"/>
                </a:solidFill>
                <a:effectLst/>
                <a:uFillTx/>
                <a:latin typeface="Tw Cen MT"/>
              </a:rPr>
              <a:t>Formatted Output – printf() , scanf() is used.</a:t>
            </a:r>
            <a:endParaRPr b="0" i="1" lang="en-IN" sz="21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endParaRPr b="0" i="1" lang="en-IN" sz="2100" strike="noStrike" u="none">
              <a:solidFill>
                <a:srgbClr val="000000"/>
              </a:solidFill>
              <a:effectLst/>
              <a:uFillTx/>
              <a:latin typeface="Arial"/>
            </a:endParaRPr>
          </a:p>
        </p:txBody>
      </p:sp>
      <p:pic>
        <p:nvPicPr>
          <p:cNvPr id="123" name="Picture 1"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24" name="Title 3"/>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26"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27" name="PlaceHolder 1"/>
          <p:cNvSpPr>
            <a:spLocks noGrp="1"/>
          </p:cNvSpPr>
          <p:nvPr>
            <p:ph type="title"/>
          </p:nvPr>
        </p:nvSpPr>
        <p:spPr>
          <a:xfrm>
            <a:off x="4678200" y="-5400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Input and output Screen</a:t>
            </a:r>
            <a:endParaRPr b="0" lang="en-IN" sz="5000" strike="noStrike" u="none">
              <a:solidFill>
                <a:srgbClr val="000000"/>
              </a:solidFill>
              <a:effectLst/>
              <a:uFillTx/>
              <a:latin typeface="Arial"/>
            </a:endParaRPr>
          </a:p>
        </p:txBody>
      </p:sp>
      <p:sp>
        <p:nvSpPr>
          <p:cNvPr id="128" name="Rectangle 11">
            <a:extLst>
              <a:ext uri="{C183D7F6-B498-43B3-948B-1728B52AA6E4}">
                <adec:decorative xmlns:adec="http://schemas.microsoft.com/office/drawing/2017/decorative" val="1"/>
              </a:ext>
            </a:extLst>
          </p:cNvPr>
          <p:cNvSpPr/>
          <p:nvPr/>
        </p:nvSpPr>
        <p:spPr>
          <a:xfrm>
            <a:off x="0" y="0"/>
            <a:ext cx="2602800" cy="685656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29"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30" name="PlaceHolder 2"/>
          <p:cNvSpPr>
            <a:spLocks noGrp="1"/>
          </p:cNvSpPr>
          <p:nvPr>
            <p:ph/>
          </p:nvPr>
        </p:nvSpPr>
        <p:spPr>
          <a:xfrm>
            <a:off x="3469320" y="2489040"/>
            <a:ext cx="7921800" cy="355320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chemeClr val="dk1"/>
                </a:solidFill>
                <a:effectLst/>
                <a:uFillTx/>
                <a:latin typeface="Tw Cen MT"/>
              </a:rPr>
              <a:t> </a:t>
            </a:r>
            <a:endParaRPr b="0" lang="en-IN" sz="1800" strike="noStrike" u="none">
              <a:solidFill>
                <a:srgbClr val="000000"/>
              </a:solidFill>
              <a:effectLst/>
              <a:uFillTx/>
              <a:latin typeface="Arial"/>
            </a:endParaRPr>
          </a:p>
        </p:txBody>
      </p:sp>
      <p:pic>
        <p:nvPicPr>
          <p:cNvPr id="131"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32"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pic>
        <p:nvPicPr>
          <p:cNvPr id="133" name="" descr=""/>
          <p:cNvPicPr/>
          <p:nvPr/>
        </p:nvPicPr>
        <p:blipFill>
          <a:blip r:embed="rId2"/>
          <a:stretch/>
        </p:blipFill>
        <p:spPr>
          <a:xfrm>
            <a:off x="4860000" y="484560"/>
            <a:ext cx="5142960" cy="639396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Rectangle 13">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135" name="Rectangle 14">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sp>
        <p:nvSpPr>
          <p:cNvPr id="136" name="Rectangle 15">
            <a:extLst>
              <a:ext uri="{C183D7F6-B498-43B3-948B-1728B52AA6E4}">
                <adec:decorative xmlns:adec="http://schemas.microsoft.com/office/drawing/2017/decorative" val="1"/>
              </a:ext>
            </a:extLst>
          </p:cNvPr>
          <p:cNvSpPr/>
          <p:nvPr/>
        </p:nvSpPr>
        <p:spPr>
          <a:xfrm>
            <a:off x="0" y="0"/>
            <a:ext cx="2602800" cy="685656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endParaRPr b="0" lang="en-US" sz="1800" strike="noStrike" u="none">
              <a:solidFill>
                <a:schemeClr val="lt1"/>
              </a:solidFill>
              <a:effectLst/>
              <a:uFillTx/>
              <a:latin typeface="Tw Cen MT"/>
              <a:ea typeface="DejaVu Sans"/>
            </a:endParaRPr>
          </a:p>
        </p:txBody>
      </p:sp>
      <p:cxnSp>
        <p:nvCxnSpPr>
          <p:cNvPr id="137" name="Straight Connector 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38" name="PlaceHolder 1"/>
          <p:cNvSpPr>
            <a:spLocks noGrp="1"/>
          </p:cNvSpPr>
          <p:nvPr>
            <p:ph/>
          </p:nvPr>
        </p:nvSpPr>
        <p:spPr>
          <a:xfrm>
            <a:off x="3469320" y="2489040"/>
            <a:ext cx="7921800" cy="355320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chemeClr val="dk1"/>
                </a:solidFill>
                <a:effectLst/>
                <a:uFillTx/>
                <a:latin typeface="Tw Cen MT"/>
              </a:rPr>
              <a:t> </a:t>
            </a:r>
            <a:endParaRPr b="0" lang="en-IN" sz="1800" strike="noStrike" u="none">
              <a:solidFill>
                <a:srgbClr val="000000"/>
              </a:solidFill>
              <a:effectLst/>
              <a:uFillTx/>
              <a:latin typeface="Arial"/>
            </a:endParaRPr>
          </a:p>
        </p:txBody>
      </p:sp>
      <p:pic>
        <p:nvPicPr>
          <p:cNvPr id="139" name="Picture 4"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40" name="Title 2"/>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pic>
        <p:nvPicPr>
          <p:cNvPr id="141" name="" descr=""/>
          <p:cNvPicPr/>
          <p:nvPr/>
        </p:nvPicPr>
        <p:blipFill>
          <a:blip r:embed="rId2"/>
          <a:stretch/>
        </p:blipFill>
        <p:spPr>
          <a:xfrm>
            <a:off x="4577040" y="360"/>
            <a:ext cx="51429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Rectangle 7">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43" name="Rectangle 9">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44"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Results &amp; Discussion</a:t>
            </a:r>
            <a:endParaRPr b="0" lang="en-IN" sz="5000" strike="noStrike" u="none">
              <a:solidFill>
                <a:srgbClr val="000000"/>
              </a:solidFill>
              <a:effectLst/>
              <a:uFillTx/>
              <a:latin typeface="Arial"/>
            </a:endParaRPr>
          </a:p>
        </p:txBody>
      </p:sp>
      <p:sp>
        <p:nvSpPr>
          <p:cNvPr id="145" name="Rectangle 11">
            <a:extLst>
              <a:ext uri="{C183D7F6-B498-43B3-948B-1728B52AA6E4}">
                <adec:decorative xmlns:adec="http://schemas.microsoft.com/office/drawing/2017/decorative" val="1"/>
              </a:ext>
            </a:extLst>
          </p:cNvPr>
          <p:cNvSpPr/>
          <p:nvPr/>
        </p:nvSpPr>
        <p:spPr>
          <a:xfrm>
            <a:off x="0" y="0"/>
            <a:ext cx="2602800" cy="685656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46" name="Straight Connector 13">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pic>
        <p:nvPicPr>
          <p:cNvPr id="147"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48"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
        <p:nvSpPr>
          <p:cNvPr id="149" name=""/>
          <p:cNvSpPr txBox="1"/>
          <p:nvPr/>
        </p:nvSpPr>
        <p:spPr>
          <a:xfrm>
            <a:off x="3060000" y="2160000"/>
            <a:ext cx="8739720" cy="4204080"/>
          </a:xfrm>
          <a:prstGeom prst="rect">
            <a:avLst/>
          </a:prstGeom>
          <a:noFill/>
          <a:ln w="0">
            <a:noFill/>
          </a:ln>
        </p:spPr>
        <p:txBody>
          <a:bodyPr lIns="90000" rIns="90000" tIns="45000" bIns="45000" anchor="t">
            <a:spAutoFit/>
          </a:bodyPr>
          <a:p>
            <a:r>
              <a:rPr b="0" lang="en-IN" sz="1600" strike="noStrike" u="none">
                <a:solidFill>
                  <a:srgbClr val="000000"/>
                </a:solidFill>
                <a:effectLst/>
                <a:uFillTx/>
                <a:latin typeface="Arial"/>
              </a:rPr>
              <a:t>The Mini Attendance Tracker performed successfully according to the project objectives. The program accurately recorded and displayed attendance for any class size between 1 and 60 students. It efficiently generated summaries showing the number of students present, absent, and the overall attendance percentage.</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The system’s outputs matched the expected results across various test cases — including all-present, all-absent, and mixed attendance scenarios. Input validation prevented crashes and ensured consistent accuracy. The use of arrays and functions contributed to fast execution and a clean, modular structure.</a:t>
            </a:r>
            <a:endParaRPr b="0" lang="en-IN" sz="1600" strike="noStrike" u="none">
              <a:solidFill>
                <a:srgbClr val="000000"/>
              </a:solidFill>
              <a:effectLst/>
              <a:uFillTx/>
              <a:latin typeface="Arial"/>
            </a:endParaRPr>
          </a:p>
          <a:p>
            <a:r>
              <a:rPr b="0" lang="en-IN" sz="1600" strike="noStrike" u="none">
                <a:solidFill>
                  <a:srgbClr val="000000"/>
                </a:solidFill>
                <a:effectLst/>
                <a:uFillTx/>
                <a:latin typeface="Arial"/>
              </a:rPr>
              <a:t>During implementation, challenges such as handling invalid inputs and ensuring correct percentage calculations for partially marked sessions were resolved using robust input validation and conditional logic. Overall, the project demonstrates a reliable, well-structured, and efficient application of core C programming concepts to a practical problem.</a:t>
            </a:r>
            <a:endParaRPr b="0" lang="en-IN" sz="16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Rectangle 4">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51" name="Rectangle 5">
            <a:extLst>
              <a:ext uri="{C183D7F6-B498-43B3-948B-1728B52AA6E4}">
                <adec:decorative xmlns:adec="http://schemas.microsoft.com/office/drawing/2017/decorative" val="1"/>
              </a:ext>
            </a:extLst>
          </p:cNvPr>
          <p:cNvSpPr/>
          <p:nvPr/>
        </p:nvSpPr>
        <p:spPr>
          <a:xfrm>
            <a:off x="2772720" y="48456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52" name="PlaceHolder 1"/>
          <p:cNvSpPr>
            <a:spLocks noGrp="1"/>
          </p:cNvSpPr>
          <p:nvPr>
            <p:ph type="title"/>
          </p:nvPr>
        </p:nvSpPr>
        <p:spPr>
          <a:xfrm>
            <a:off x="3469320" y="7884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Conclusion &amp; Future Enhancement</a:t>
            </a:r>
            <a:endParaRPr b="0" lang="en-IN" sz="5000" strike="noStrike" u="none">
              <a:solidFill>
                <a:srgbClr val="000000"/>
              </a:solidFill>
              <a:effectLst/>
              <a:uFillTx/>
              <a:latin typeface="Arial"/>
            </a:endParaRPr>
          </a:p>
        </p:txBody>
      </p:sp>
      <p:sp>
        <p:nvSpPr>
          <p:cNvPr id="153" name="Rectangle 6">
            <a:extLst>
              <a:ext uri="{C183D7F6-B498-43B3-948B-1728B52AA6E4}">
                <adec:decorative xmlns:adec="http://schemas.microsoft.com/office/drawing/2017/decorative" val="1"/>
              </a:ext>
            </a:extLst>
          </p:cNvPr>
          <p:cNvSpPr/>
          <p:nvPr/>
        </p:nvSpPr>
        <p:spPr>
          <a:xfrm>
            <a:off x="0" y="0"/>
            <a:ext cx="2602800" cy="68576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54" name="Straight Connector 8">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pic>
        <p:nvPicPr>
          <p:cNvPr id="155"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56"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
        <p:nvSpPr>
          <p:cNvPr id="157" name=""/>
          <p:cNvSpPr txBox="1"/>
          <p:nvPr/>
        </p:nvSpPr>
        <p:spPr>
          <a:xfrm>
            <a:off x="3240000" y="2520000"/>
            <a:ext cx="8479440" cy="4627800"/>
          </a:xfrm>
          <a:prstGeom prst="rect">
            <a:avLst/>
          </a:prstGeom>
          <a:noFill/>
          <a:ln w="0">
            <a:noFill/>
          </a:ln>
        </p:spPr>
        <p:txBody>
          <a:bodyPr lIns="90000" rIns="90000" tIns="45000" bIns="45000" anchor="t">
            <a:spAutoFit/>
          </a:bodyPr>
          <a:p>
            <a:r>
              <a:rPr b="1" i="1" lang="en-IN" sz="2000" strike="noStrike" u="none">
                <a:solidFill>
                  <a:srgbClr val="000000"/>
                </a:solidFill>
                <a:effectLst/>
                <a:uFillTx/>
                <a:latin typeface="Arial"/>
              </a:rPr>
              <a:t>Conclusion</a:t>
            </a:r>
            <a:r>
              <a:rPr b="1" i="1" lang="en-IN" sz="1600" strike="noStrike" u="none">
                <a:solidFill>
                  <a:srgbClr val="000000"/>
                </a:solidFill>
                <a:effectLst/>
                <a:uFillTx/>
                <a:latin typeface="Arial"/>
              </a:rPr>
              <a:t>:</a:t>
            </a:r>
            <a:endParaRPr b="0" lang="en-IN" sz="1600" strike="noStrike" u="none">
              <a:solidFill>
                <a:srgbClr val="000000"/>
              </a:solidFill>
              <a:effectLst/>
              <a:uFillTx/>
              <a:latin typeface="Arial"/>
            </a:endParaRPr>
          </a:p>
          <a:p>
            <a:r>
              <a:rPr b="0" lang="en-IN" sz="1800" strike="noStrike" u="none">
                <a:solidFill>
                  <a:srgbClr val="000000"/>
                </a:solidFill>
                <a:effectLst/>
                <a:uFillTx/>
                <a:latin typeface="Arial"/>
              </a:rPr>
              <a:t>Project achieved its main goal of building a session-based attendance tracker. Strengthened understanding of C concepts, logic flow, and modular design .Demonstrated practical application of arrays, loops, and functions</a:t>
            </a:r>
            <a:r>
              <a:rPr b="0" lang="en-IN" sz="1050" strike="noStrike" u="none">
                <a:solidFill>
                  <a:srgbClr val="000000"/>
                </a:solidFill>
                <a:effectLst/>
                <a:uFillTx/>
                <a:latin typeface="Arial"/>
              </a:rPr>
              <a:t>.</a:t>
            </a:r>
            <a:endParaRPr b="0" lang="en-IN" sz="1050" strike="noStrike" u="none">
              <a:solidFill>
                <a:srgbClr val="000000"/>
              </a:solidFill>
              <a:effectLst/>
              <a:uFillTx/>
              <a:latin typeface="Arial"/>
            </a:endParaRPr>
          </a:p>
          <a:p>
            <a:r>
              <a:rPr b="1" i="1" lang="en-IN" sz="2000" strike="noStrike" u="none">
                <a:solidFill>
                  <a:srgbClr val="000000"/>
                </a:solidFill>
                <a:effectLst/>
                <a:uFillTx/>
                <a:latin typeface="Arial"/>
              </a:rPr>
              <a:t>Future Enhancements: </a:t>
            </a:r>
            <a:endParaRPr b="0" lang="en-IN" sz="2000" strike="noStrike" u="none">
              <a:solidFill>
                <a:srgbClr val="000000"/>
              </a:solidFill>
              <a:effectLst/>
              <a:uFillTx/>
              <a:latin typeface="Arial"/>
            </a:endParaRPr>
          </a:p>
          <a:p>
            <a:endParaRPr b="0" lang="en-IN" sz="2000" strike="noStrike" u="none">
              <a:solidFill>
                <a:srgbClr val="000000"/>
              </a:solidFill>
              <a:effectLst/>
              <a:uFillTx/>
              <a:latin typeface="Arial"/>
            </a:endParaRPr>
          </a:p>
          <a:p>
            <a:endParaRPr b="0" lang="en-IN" sz="2000" strike="noStrike" u="none">
              <a:solidFill>
                <a:srgbClr val="000000"/>
              </a:solidFill>
              <a:effectLst/>
              <a:uFillTx/>
              <a:latin typeface="Arial"/>
            </a:endParaRPr>
          </a:p>
          <a:p>
            <a:endParaRPr b="0" lang="en-IN" sz="1800" strike="noStrike" u="none">
              <a:solidFill>
                <a:srgbClr val="000000"/>
              </a:solidFill>
              <a:effectLst/>
              <a:uFillTx/>
              <a:latin typeface="Arial"/>
            </a:endParaRPr>
          </a:p>
          <a:p>
            <a:endParaRPr b="0" lang="en-IN" sz="1000" strike="noStrike" u="none">
              <a:solidFill>
                <a:srgbClr val="000000"/>
              </a:solidFill>
              <a:effectLst/>
              <a:uFillTx/>
              <a:latin typeface="Arial"/>
            </a:endParaRPr>
          </a:p>
          <a:p>
            <a:endParaRPr b="0" lang="en-IN" sz="10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
        <p:nvSpPr>
          <p:cNvPr id="158" name=""/>
          <p:cNvSpPr txBox="1"/>
          <p:nvPr/>
        </p:nvSpPr>
        <p:spPr>
          <a:xfrm>
            <a:off x="3240000" y="4674960"/>
            <a:ext cx="8100000" cy="2181600"/>
          </a:xfrm>
          <a:prstGeom prst="rect">
            <a:avLst/>
          </a:prstGeom>
          <a:noFill/>
          <a:ln w="0">
            <a:noFill/>
          </a:ln>
        </p:spPr>
        <p:txBody>
          <a:bodyPr lIns="90000" rIns="90000" tIns="45000" bIns="45000" anchor="t">
            <a:spAutoFit/>
          </a:bodyPr>
          <a:p>
            <a:r>
              <a:rPr b="0" lang="en-IN" sz="1800" strike="noStrike" u="none">
                <a:solidFill>
                  <a:srgbClr val="000000"/>
                </a:solidFill>
                <a:effectLst/>
                <a:uFillTx/>
                <a:latin typeface="Arial"/>
              </a:rPr>
              <a:t>GUI support for better interaction can be added, Integrate database for record storage, using extend features for scalability and automation can also be added for the better future.</a:t>
            </a:r>
            <a:endParaRPr b="0" lang="en-IN" sz="18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Rectangle 4">
            <a:extLst>
              <a:ext uri="{C183D7F6-B498-43B3-948B-1728B52AA6E4}">
                <adec:decorative xmlns:adec="http://schemas.microsoft.com/office/drawing/2017/decorative" val="1"/>
              </a:ext>
            </a:extLst>
          </p:cNvPr>
          <p:cNvSpPr/>
          <p:nvPr/>
        </p:nvSpPr>
        <p:spPr>
          <a:xfrm>
            <a:off x="0" y="0"/>
            <a:ext cx="12190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60" name="Rectangle 5">
            <a:extLst>
              <a:ext uri="{C183D7F6-B498-43B3-948B-1728B52AA6E4}">
                <adec:decorative xmlns:adec="http://schemas.microsoft.com/office/drawing/2017/decorative" val="1"/>
              </a:ext>
            </a:extLst>
          </p:cNvPr>
          <p:cNvSpPr/>
          <p:nvPr/>
        </p:nvSpPr>
        <p:spPr>
          <a:xfrm>
            <a:off x="2880000" y="720000"/>
            <a:ext cx="8946720" cy="587952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61" name="PlaceHolder 1"/>
          <p:cNvSpPr>
            <a:spLocks noGrp="1"/>
          </p:cNvSpPr>
          <p:nvPr>
            <p:ph type="title"/>
          </p:nvPr>
        </p:nvSpPr>
        <p:spPr>
          <a:xfrm>
            <a:off x="3417840" y="720000"/>
            <a:ext cx="7921800" cy="149832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chemeClr val="dk1"/>
                </a:solidFill>
                <a:effectLst/>
                <a:uFillTx/>
                <a:latin typeface="Tw Cen MT Condensed"/>
              </a:rPr>
              <a:t>References / Acknowledgement</a:t>
            </a:r>
            <a:endParaRPr b="0" lang="en-IN" sz="5000" strike="noStrike" u="none">
              <a:solidFill>
                <a:srgbClr val="000000"/>
              </a:solidFill>
              <a:effectLst/>
              <a:uFillTx/>
              <a:latin typeface="Arial"/>
            </a:endParaRPr>
          </a:p>
        </p:txBody>
      </p:sp>
      <p:sp>
        <p:nvSpPr>
          <p:cNvPr id="162" name="Rectangle 6">
            <a:extLst>
              <a:ext uri="{C183D7F6-B498-43B3-948B-1728B52AA6E4}">
                <adec:decorative xmlns:adec="http://schemas.microsoft.com/office/drawing/2017/decorative" val="1"/>
              </a:ext>
            </a:extLst>
          </p:cNvPr>
          <p:cNvSpPr/>
          <p:nvPr/>
        </p:nvSpPr>
        <p:spPr>
          <a:xfrm>
            <a:off x="0" y="0"/>
            <a:ext cx="2602800" cy="68396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63" name="Straight Connector 8">
            <a:extLst>
              <a:ext uri="{C183D7F6-B498-43B3-948B-1728B52AA6E4}">
                <adec:decorative xmlns:adec="http://schemas.microsoft.com/office/drawing/2017/decorative" val="1"/>
              </a:ext>
            </a:extLst>
          </p:cNvPr>
          <p:cNvCxnSpPr/>
          <p:nvPr/>
        </p:nvCxnSpPr>
        <p:spPr>
          <a:xfrm flipV="1">
            <a:off x="3206880" y="1029240"/>
            <a:ext cx="1440" cy="915840"/>
          </a:xfrm>
          <a:prstGeom prst="straightConnector1">
            <a:avLst/>
          </a:prstGeom>
          <a:ln w="19080">
            <a:solidFill>
              <a:schemeClr val="accent1">
                <a:alpha val="80000"/>
              </a:schemeClr>
            </a:solidFill>
            <a:round/>
          </a:ln>
        </p:spPr>
      </p:cxnSp>
      <p:sp>
        <p:nvSpPr>
          <p:cNvPr id="164" name="PlaceHolder 2"/>
          <p:cNvSpPr>
            <a:spLocks noGrp="1"/>
          </p:cNvSpPr>
          <p:nvPr>
            <p:ph/>
          </p:nvPr>
        </p:nvSpPr>
        <p:spPr>
          <a:xfrm>
            <a:off x="3469320" y="2489040"/>
            <a:ext cx="7921800" cy="3553200"/>
          </a:xfrm>
          <a:prstGeom prst="rect">
            <a:avLst/>
          </a:prstGeom>
          <a:noFill/>
          <a:ln w="0">
            <a:noFill/>
          </a:ln>
        </p:spPr>
        <p:txBody>
          <a:bodyPr lIns="45720" rIns="45720" tIns="45720" bIns="45720" anchor="t" anchorCtr="1">
            <a:normAutofit fontScale="92500" lnSpcReduction="9999"/>
          </a:bodyPr>
          <a:p>
            <a:pPr indent="0" algn="r" defTabSz="914400">
              <a:lnSpc>
                <a:spcPct val="90000"/>
              </a:lnSpc>
              <a:spcBef>
                <a:spcPts val="1199"/>
              </a:spcBef>
              <a:spcAft>
                <a:spcPts val="201"/>
              </a:spcAft>
              <a:buNone/>
              <a:tabLst>
                <a:tab algn="l" pos="0"/>
              </a:tabLst>
            </a:pPr>
            <a:r>
              <a:rPr b="1" i="1" lang="en-IN" sz="2200" strike="noStrike" u="none">
                <a:solidFill>
                  <a:schemeClr val="dk1"/>
                </a:solidFill>
                <a:effectLst/>
                <a:uFillTx/>
                <a:latin typeface="Arial"/>
                <a:ea typeface="DejaVu Sans"/>
              </a:rPr>
              <a:t>Reference </a:t>
            </a:r>
            <a:r>
              <a:rPr b="1" lang="en-IN" sz="2100" strike="noStrike" u="none">
                <a:solidFill>
                  <a:schemeClr val="dk1"/>
                </a:solidFill>
                <a:effectLst/>
                <a:uFillTx/>
                <a:latin typeface="Arial"/>
                <a:ea typeface="DejaVu Sans"/>
              </a:rPr>
              <a:t>                                                                                       </a:t>
            </a:r>
            <a:endParaRPr b="0" lang="en-IN" sz="2100" strike="noStrike" u="none">
              <a:solidFill>
                <a:srgbClr val="000000"/>
              </a:solidFill>
              <a:effectLst/>
              <a:uFillTx/>
              <a:latin typeface="Arial"/>
            </a:endParaRPr>
          </a:p>
          <a:p>
            <a:pPr marL="91440" indent="-91440">
              <a:lnSpc>
                <a:spcPct val="100000"/>
              </a:lnSpc>
              <a:spcBef>
                <a:spcPts val="1191"/>
              </a:spcBef>
              <a:spcAft>
                <a:spcPts val="283"/>
              </a:spcAft>
              <a:buClr>
                <a:srgbClr val="1cade4"/>
              </a:buClr>
              <a:buFont typeface="Tw Cen MT"/>
              <a:buChar char=" "/>
            </a:pPr>
            <a:r>
              <a:rPr b="0" lang="en-IN" sz="1800" strike="noStrike" u="none">
                <a:solidFill>
                  <a:schemeClr val="dk1"/>
                </a:solidFill>
                <a:effectLst/>
                <a:uFillTx/>
                <a:latin typeface="Arial"/>
                <a:ea typeface="DejaVu Sans"/>
              </a:rPr>
              <a:t>• Let Us C – Yashavant Kanetka</a:t>
            </a:r>
            <a:endParaRPr b="0" lang="en-IN" sz="1800" strike="noStrike" u="none">
              <a:solidFill>
                <a:srgbClr val="000000"/>
              </a:solidFill>
              <a:effectLst/>
              <a:uFillTx/>
              <a:latin typeface="Arial"/>
            </a:endParaRPr>
          </a:p>
          <a:p>
            <a:pPr marL="91440" indent="-91440">
              <a:lnSpc>
                <a:spcPct val="100000"/>
              </a:lnSpc>
              <a:spcAft>
                <a:spcPts val="283"/>
              </a:spcAft>
              <a:buClr>
                <a:srgbClr val="1cade4"/>
              </a:buClr>
              <a:buFont typeface="Tw Cen MT"/>
              <a:buChar char=" "/>
            </a:pPr>
            <a:r>
              <a:rPr b="0" lang="en-IN" sz="1800" strike="noStrike" u="none">
                <a:solidFill>
                  <a:schemeClr val="dk1"/>
                </a:solidFill>
                <a:effectLst/>
                <a:uFillTx/>
                <a:latin typeface="Arial"/>
                <a:ea typeface="DejaVu Sans"/>
              </a:rPr>
              <a:t>• C Programming – E. Balagurusamy</a:t>
            </a:r>
            <a:endParaRPr b="0" lang="en-IN" sz="1800" strike="noStrike" u="none">
              <a:solidFill>
                <a:srgbClr val="000000"/>
              </a:solidFill>
              <a:effectLst/>
              <a:uFillTx/>
              <a:latin typeface="Arial"/>
            </a:endParaRPr>
          </a:p>
          <a:p>
            <a:pPr marL="91440" indent="-91440">
              <a:lnSpc>
                <a:spcPct val="100000"/>
              </a:lnSpc>
              <a:spcAft>
                <a:spcPts val="567"/>
              </a:spcAft>
              <a:buClr>
                <a:srgbClr val="1cade4"/>
              </a:buClr>
              <a:buFont typeface="Tw Cen MT"/>
              <a:buChar char=" "/>
            </a:pPr>
            <a:r>
              <a:rPr b="0" lang="en-IN" sz="1800" strike="noStrike" u="none">
                <a:solidFill>
                  <a:schemeClr val="dk1"/>
                </a:solidFill>
                <a:effectLst/>
                <a:uFillTx/>
                <a:latin typeface="Arial"/>
                <a:ea typeface="DejaVu Sans"/>
              </a:rPr>
              <a:t>• Online resources and documentation</a:t>
            </a:r>
            <a:endParaRPr b="0" lang="en-IN" sz="1800" strike="noStrike" u="none">
              <a:solidFill>
                <a:srgbClr val="000000"/>
              </a:solidFill>
              <a:effectLst/>
              <a:uFillTx/>
              <a:latin typeface="Arial"/>
            </a:endParaRPr>
          </a:p>
          <a:p>
            <a:pPr marL="91440" indent="0">
              <a:lnSpc>
                <a:spcPct val="100000"/>
              </a:lnSpc>
              <a:spcBef>
                <a:spcPts val="1191"/>
              </a:spcBef>
              <a:spcAft>
                <a:spcPts val="992"/>
              </a:spcAft>
              <a:buNone/>
            </a:pPr>
            <a:r>
              <a:rPr b="0" lang="en-IN" sz="1800" strike="noStrike" u="none">
                <a:solidFill>
                  <a:schemeClr val="dk1"/>
                </a:solidFill>
                <a:effectLst/>
                <a:uFillTx/>
                <a:latin typeface="Arial"/>
                <a:ea typeface="DejaVu Sans"/>
              </a:rPr>
              <a:t> </a:t>
            </a:r>
            <a:endParaRPr b="0" lang="en-IN" sz="1800" strike="noStrike" u="none">
              <a:solidFill>
                <a:srgbClr val="000000"/>
              </a:solidFill>
              <a:effectLst/>
              <a:uFillTx/>
              <a:latin typeface="Arial"/>
            </a:endParaRPr>
          </a:p>
          <a:p>
            <a:pPr marL="91440" indent="-91440">
              <a:lnSpc>
                <a:spcPct val="100000"/>
              </a:lnSpc>
              <a:buClr>
                <a:srgbClr val="1cade4"/>
              </a:buClr>
              <a:buFont typeface="Tw Cen MT"/>
              <a:buChar char=" "/>
            </a:pPr>
            <a:r>
              <a:rPr b="1" i="1" lang="en-IN" sz="2100" strike="noStrike" u="none">
                <a:solidFill>
                  <a:schemeClr val="dk1"/>
                </a:solidFill>
                <a:effectLst/>
                <a:uFillTx/>
                <a:latin typeface="Arial"/>
                <a:ea typeface="DejaVu Sans"/>
              </a:rPr>
              <a:t>Acknowledgement:</a:t>
            </a:r>
            <a:endParaRPr b="0" lang="en-IN" sz="2100" strike="noStrike" u="none">
              <a:solidFill>
                <a:srgbClr val="000000"/>
              </a:solidFill>
              <a:effectLst/>
              <a:uFillTx/>
              <a:latin typeface="Arial"/>
            </a:endParaRPr>
          </a:p>
          <a:p>
            <a:pPr marL="91440" indent="0">
              <a:lnSpc>
                <a:spcPct val="100000"/>
              </a:lnSpc>
              <a:buNone/>
            </a:pPr>
            <a:r>
              <a:rPr b="1" i="1" lang="en-IN" sz="2100" strike="noStrike" u="none">
                <a:solidFill>
                  <a:schemeClr val="dk1"/>
                </a:solidFill>
                <a:effectLst/>
                <a:uFillTx/>
                <a:latin typeface="Arial"/>
                <a:ea typeface="DejaVu Sans"/>
              </a:rPr>
              <a:t> </a:t>
            </a:r>
            <a:endParaRPr b="0" lang="en-IN" sz="2100" strike="noStrike" u="none">
              <a:solidFill>
                <a:srgbClr val="000000"/>
              </a:solidFill>
              <a:effectLst/>
              <a:uFillTx/>
              <a:latin typeface="Arial"/>
            </a:endParaRPr>
          </a:p>
          <a:p>
            <a:pPr marL="91440" indent="-91440">
              <a:lnSpc>
                <a:spcPct val="100000"/>
              </a:lnSpc>
              <a:buClr>
                <a:srgbClr val="1cade4"/>
              </a:buClr>
              <a:buFont typeface="Tw Cen MT"/>
              <a:buChar char=" "/>
            </a:pPr>
            <a:r>
              <a:rPr b="0" lang="en-IN" sz="2000" strike="noStrike" u="none">
                <a:solidFill>
                  <a:schemeClr val="dk1"/>
                </a:solidFill>
                <a:effectLst/>
                <a:uFillTx/>
                <a:latin typeface="Arial"/>
                <a:ea typeface="DejaVu Sans"/>
              </a:rPr>
              <a:t> I sincerely express my gratitude to my mentor for their valuable guidance and support. Special thanks to my department for providing resources and I also appreciate my team members for their cooperation and contribution throughout the project.</a:t>
            </a:r>
            <a:endParaRPr b="0" lang="en-IN" sz="2000" strike="noStrike" u="none">
              <a:solidFill>
                <a:srgbClr val="000000"/>
              </a:solidFill>
              <a:effectLst/>
              <a:uFillTx/>
              <a:latin typeface="Arial"/>
            </a:endParaRPr>
          </a:p>
          <a:p>
            <a:pPr marL="91440" indent="0">
              <a:lnSpc>
                <a:spcPct val="100000"/>
              </a:lnSpc>
              <a:buNone/>
            </a:pPr>
            <a:r>
              <a:rPr b="0" lang="en-IN" sz="1800" strike="noStrike" u="none">
                <a:solidFill>
                  <a:schemeClr val="dk1"/>
                </a:solidFill>
                <a:effectLst/>
                <a:uFillTx/>
                <a:latin typeface="Arial"/>
                <a:ea typeface="DejaVu Sans"/>
              </a:rPr>
              <a:t> </a:t>
            </a:r>
            <a:endParaRPr b="0" lang="en-IN" sz="1800" strike="noStrike" u="none">
              <a:solidFill>
                <a:srgbClr val="000000"/>
              </a:solidFill>
              <a:effectLst/>
              <a:uFillTx/>
              <a:latin typeface="Arial"/>
            </a:endParaRPr>
          </a:p>
          <a:p>
            <a:pPr marL="91440" indent="0">
              <a:lnSpc>
                <a:spcPct val="100000"/>
              </a:lnSpc>
              <a:buNone/>
            </a:pPr>
            <a:r>
              <a:rPr b="0" lang="en-IN" sz="1000" strike="noStrike" u="none">
                <a:solidFill>
                  <a:schemeClr val="dk1"/>
                </a:solidFill>
                <a:effectLst/>
                <a:uFillTx/>
                <a:latin typeface="Arial"/>
                <a:ea typeface="DejaVu Sans"/>
              </a:rPr>
              <a:t> </a:t>
            </a:r>
            <a:endParaRPr b="0" lang="en-IN" sz="1000" strike="noStrike" u="none">
              <a:solidFill>
                <a:srgbClr val="000000"/>
              </a:solidFill>
              <a:effectLst/>
              <a:uFillTx/>
              <a:latin typeface="Arial"/>
            </a:endParaRPr>
          </a:p>
        </p:txBody>
      </p:sp>
      <p:pic>
        <p:nvPicPr>
          <p:cNvPr id="165" name="Picture 3" descr="A blue and red logo&#10;&#10;AI-generated content may be incorrect."/>
          <p:cNvPicPr/>
          <p:nvPr/>
        </p:nvPicPr>
        <p:blipFill>
          <a:blip r:embed="rId1"/>
          <a:stretch/>
        </p:blipFill>
        <p:spPr>
          <a:xfrm>
            <a:off x="566280" y="654840"/>
            <a:ext cx="1876680" cy="468000"/>
          </a:xfrm>
          <a:prstGeom prst="rect">
            <a:avLst/>
          </a:prstGeom>
          <a:noFill/>
          <a:ln w="0">
            <a:noFill/>
          </a:ln>
        </p:spPr>
      </p:pic>
      <p:sp>
        <p:nvSpPr>
          <p:cNvPr id="166" name="Title 1"/>
          <p:cNvSpPr/>
          <p:nvPr/>
        </p:nvSpPr>
        <p:spPr>
          <a:xfrm>
            <a:off x="566280" y="590040"/>
            <a:ext cx="1876680" cy="56116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ea typeface="DejaVu Sans"/>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Rectangle 4">
            <a:extLst>
              <a:ext uri="{C183D7F6-B498-43B3-948B-1728B52AA6E4}">
                <adec:decorative xmlns:adec="http://schemas.microsoft.com/office/drawing/2017/decorative" val="1"/>
              </a:ext>
            </a:extLst>
          </p:cNvPr>
          <p:cNvSpPr/>
          <p:nvPr/>
        </p:nvSpPr>
        <p:spPr>
          <a:xfrm>
            <a:off x="-61560" y="0"/>
            <a:ext cx="12253680" cy="6856560"/>
          </a:xfrm>
          <a:prstGeom prst="rect">
            <a:avLst/>
          </a:prstGeom>
          <a:solidFill>
            <a:srgbClr val="c0c0c0"/>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sp>
        <p:nvSpPr>
          <p:cNvPr id="168" name="Rectangle 5">
            <a:extLst>
              <a:ext uri="{C183D7F6-B498-43B3-948B-1728B52AA6E4}">
                <adec:decorative xmlns:adec="http://schemas.microsoft.com/office/drawing/2017/decorative" val="1"/>
              </a:ext>
            </a:extLst>
          </p:cNvPr>
          <p:cNvSpPr/>
          <p:nvPr/>
        </p:nvSpPr>
        <p:spPr>
          <a:xfrm>
            <a:off x="330120" y="360000"/>
            <a:ext cx="11549880" cy="6213240"/>
          </a:xfrm>
          <a:prstGeom prst="rect">
            <a:avLst/>
          </a:prstGeom>
          <a:solidFill>
            <a:schemeClr val="accent1"/>
          </a:solidFill>
          <a:ln w="1584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Tw Cen MT"/>
              <a:ea typeface="DejaVu Sans"/>
            </a:endParaRPr>
          </a:p>
        </p:txBody>
      </p:sp>
      <p:cxnSp>
        <p:nvCxnSpPr>
          <p:cNvPr id="169" name="Straight Connector 11">
            <a:extLst>
              <a:ext uri="{C183D7F6-B498-43B3-948B-1728B52AA6E4}">
                <adec:decorative xmlns:adec="http://schemas.microsoft.com/office/drawing/2017/decorative" val="1"/>
              </a:ext>
            </a:extLst>
          </p:cNvPr>
          <p:cNvCxnSpPr/>
          <p:nvPr/>
        </p:nvCxnSpPr>
        <p:spPr>
          <a:xfrm flipV="1">
            <a:off x="761760" y="826200"/>
            <a:ext cx="1440" cy="915840"/>
          </a:xfrm>
          <a:prstGeom prst="straightConnector1">
            <a:avLst/>
          </a:prstGeom>
          <a:ln w="19080">
            <a:solidFill>
              <a:srgbClr val="d2effa"/>
            </a:solidFill>
            <a:round/>
          </a:ln>
        </p:spPr>
      </p:cxnSp>
      <p:sp>
        <p:nvSpPr>
          <p:cNvPr id="170" name=""/>
          <p:cNvSpPr txBox="1"/>
          <p:nvPr/>
        </p:nvSpPr>
        <p:spPr>
          <a:xfrm>
            <a:off x="3240000" y="2340000"/>
            <a:ext cx="5760000" cy="760680"/>
          </a:xfrm>
          <a:prstGeom prst="rect">
            <a:avLst/>
          </a:prstGeom>
          <a:noFill/>
          <a:ln w="0">
            <a:noFill/>
          </a:ln>
        </p:spPr>
        <p:txBody>
          <a:bodyPr lIns="90000" rIns="90000" tIns="45000" bIns="45000" anchor="t">
            <a:spAutoFit/>
          </a:bodyPr>
          <a:p>
            <a:r>
              <a:rPr b="0" i="1" lang="en-IN" sz="2200" strike="noStrike" u="none">
                <a:solidFill>
                  <a:srgbClr val="000000"/>
                </a:solidFill>
                <a:effectLst/>
                <a:uFillTx/>
                <a:latin typeface="Arial"/>
              </a:rPr>
              <a:t>Every roll counts — track it right, code it light!</a:t>
            </a:r>
            <a:r>
              <a:rPr b="0" i="1" lang="en-IN" sz="1050" strike="noStrike" u="none">
                <a:solidFill>
                  <a:srgbClr val="000000"/>
                </a:solidFill>
                <a:effectLst/>
                <a:uFillTx/>
                <a:latin typeface="Arial"/>
              </a:rPr>
              <a:t> </a:t>
            </a:r>
            <a:endParaRPr b="0" i="1" lang="en-IN" sz="1050" strike="noStrike" u="none">
              <a:solidFill>
                <a:srgbClr val="000000"/>
              </a:solidFill>
              <a:effectLst/>
              <a:uFillTx/>
              <a:latin typeface="Arial"/>
            </a:endParaRPr>
          </a:p>
        </p:txBody>
      </p:sp>
      <p:cxnSp>
        <p:nvCxnSpPr>
          <p:cNvPr id="171" name=""/>
          <p:cNvCxnSpPr>
            <a:stCxn id="167" idx="2"/>
            <a:endCxn id="168" idx="2"/>
          </p:cNvCxnSpPr>
          <p:nvPr/>
        </p:nvCxnSpPr>
        <p:spPr>
          <a:xfrm flipV="1">
            <a:off x="6065280" y="6573240"/>
            <a:ext cx="39960" cy="283680"/>
          </a:xfrm>
          <a:prstGeom prst="straightConnector1">
            <a:avLst/>
          </a:prstGeom>
          <a:ln w="0">
            <a:noFill/>
          </a:ln>
        </p:spPr>
      </p:cxnSp>
      <p:sp>
        <p:nvSpPr>
          <p:cNvPr id="172" name=""/>
          <p:cNvSpPr txBox="1"/>
          <p:nvPr/>
        </p:nvSpPr>
        <p:spPr>
          <a:xfrm>
            <a:off x="3960000" y="900000"/>
            <a:ext cx="4066920" cy="1431720"/>
          </a:xfrm>
          <a:prstGeom prst="rect">
            <a:avLst/>
          </a:prstGeom>
          <a:noFill/>
          <a:ln w="0">
            <a:noFill/>
          </a:ln>
        </p:spPr>
        <p:txBody>
          <a:bodyPr lIns="90000" rIns="90000" tIns="45000" bIns="45000" anchor="t">
            <a:spAutoFit/>
          </a:bodyPr>
          <a:p>
            <a:r>
              <a:rPr b="0" lang="en-IN" sz="8800" spc="99" strike="noStrike" u="none" cap="all">
                <a:solidFill>
                  <a:schemeClr val="dk1"/>
                </a:solidFill>
                <a:effectLst/>
                <a:uFillTx/>
                <a:latin typeface="Tw Cen MT Condensed"/>
              </a:rPr>
              <a:t>Thank You</a:t>
            </a:r>
            <a:endParaRPr b="0" lang="en-IN" sz="8800" strike="noStrike" u="none">
              <a:solidFill>
                <a:srgbClr val="000000"/>
              </a:solidFill>
              <a:effectLst/>
              <a:uFillTx/>
              <a:latin typeface="Arial"/>
            </a:endParaRPr>
          </a:p>
        </p:txBody>
      </p:sp>
      <p:sp>
        <p:nvSpPr>
          <p:cNvPr id="173" name=""/>
          <p:cNvSpPr txBox="1"/>
          <p:nvPr/>
        </p:nvSpPr>
        <p:spPr>
          <a:xfrm>
            <a:off x="3240000" y="2340360"/>
            <a:ext cx="5760000" cy="760680"/>
          </a:xfrm>
          <a:prstGeom prst="rect">
            <a:avLst/>
          </a:prstGeom>
          <a:noFill/>
          <a:ln w="0">
            <a:noFill/>
          </a:ln>
        </p:spPr>
        <p:txBody>
          <a:bodyPr lIns="90000" rIns="90000" tIns="45000" bIns="45000" anchor="t">
            <a:spAutoFit/>
          </a:bodyPr>
          <a:p>
            <a:r>
              <a:rPr b="0" i="1" lang="en-IN" sz="2200" strike="noStrike" u="none">
                <a:solidFill>
                  <a:srgbClr val="000000"/>
                </a:solidFill>
                <a:effectLst/>
                <a:uFillTx/>
                <a:latin typeface="Arial"/>
              </a:rPr>
              <a:t>Every roll counts — track it right, code it light!</a:t>
            </a:r>
            <a:r>
              <a:rPr b="0" i="1" lang="en-IN" sz="1050" strike="noStrike" u="none">
                <a:solidFill>
                  <a:srgbClr val="000000"/>
                </a:solidFill>
                <a:effectLst/>
                <a:uFillTx/>
                <a:latin typeface="Arial"/>
              </a:rPr>
              <a:t> </a:t>
            </a:r>
            <a:endParaRPr b="0" i="1" lang="en-IN" sz="1050" strike="noStrike" u="none">
              <a:solidFill>
                <a:srgbClr val="000000"/>
              </a:solidFill>
              <a:effectLst/>
              <a:uFillTx/>
              <a:latin typeface="Arial"/>
            </a:endParaRPr>
          </a:p>
        </p:txBody>
      </p:sp>
      <p:sp>
        <p:nvSpPr>
          <p:cNvPr id="174" name=""/>
          <p:cNvSpPr txBox="1"/>
          <p:nvPr/>
        </p:nvSpPr>
        <p:spPr>
          <a:xfrm>
            <a:off x="900000" y="3960000"/>
            <a:ext cx="10440000" cy="3045960"/>
          </a:xfrm>
          <a:prstGeom prst="rect">
            <a:avLst/>
          </a:prstGeom>
          <a:noFill/>
          <a:ln w="0">
            <a:noFill/>
          </a:ln>
        </p:spPr>
        <p:txBody>
          <a:bodyPr lIns="90000" rIns="90000" tIns="45000" bIns="45000" anchor="t">
            <a:spAutoFit/>
          </a:bodyPr>
          <a:p>
            <a:r>
              <a:rPr b="0" lang="en-IN" sz="2100" strike="noStrike" u="none">
                <a:solidFill>
                  <a:srgbClr val="000000"/>
                </a:solidFill>
                <a:effectLst/>
                <a:uFillTx/>
                <a:latin typeface="Arial"/>
              </a:rPr>
              <a:t>Questions:</a:t>
            </a:r>
            <a:endParaRPr b="0" lang="en-IN" sz="2100" strike="noStrike" u="none">
              <a:solidFill>
                <a:srgbClr val="000000"/>
              </a:solidFill>
              <a:effectLst/>
              <a:uFillTx/>
              <a:latin typeface="Arial"/>
            </a:endParaRPr>
          </a:p>
          <a:p>
            <a:r>
              <a:rPr b="0" lang="en-IN" sz="2100" strike="noStrike" u="none">
                <a:solidFill>
                  <a:srgbClr val="000000"/>
                </a:solidFill>
                <a:effectLst/>
                <a:uFillTx/>
                <a:latin typeface="Arial"/>
              </a:rPr>
              <a:t>Why is an array used to store attendance instead of another data type?</a:t>
            </a:r>
            <a:endParaRPr b="0" lang="en-IN" sz="2100" strike="noStrike" u="none">
              <a:solidFill>
                <a:srgbClr val="000000"/>
              </a:solidFill>
              <a:effectLst/>
              <a:uFillTx/>
              <a:latin typeface="Arial"/>
            </a:endParaRPr>
          </a:p>
          <a:p>
            <a:r>
              <a:rPr b="0" lang="en-IN" sz="2000" strike="noStrike" u="none">
                <a:solidFill>
                  <a:srgbClr val="000000"/>
                </a:solidFill>
                <a:effectLst/>
                <a:uFillTx/>
                <a:latin typeface="Arial"/>
              </a:rPr>
              <a:t>What does toupper() do in this code? </a:t>
            </a:r>
            <a:endParaRPr b="0" lang="en-IN" sz="2000" strike="noStrike" u="none">
              <a:solidFill>
                <a:srgbClr val="000000"/>
              </a:solidFill>
              <a:effectLst/>
              <a:uFillTx/>
              <a:latin typeface="Arial"/>
            </a:endParaRPr>
          </a:p>
          <a:p>
            <a:r>
              <a:rPr b="0" lang="en-IN" sz="2000" strike="noStrike" u="none">
                <a:solidFill>
                  <a:srgbClr val="000000"/>
                </a:solidFill>
                <a:effectLst/>
                <a:uFillTx/>
                <a:latin typeface="Arial"/>
              </a:rPr>
              <a:t>What happens if the user enters a roll number outside the valid range? </a:t>
            </a:r>
            <a:endParaRPr b="0" lang="en-IN" sz="2000" strike="noStrike" u="none">
              <a:solidFill>
                <a:srgbClr val="000000"/>
              </a:solidFill>
              <a:effectLst/>
              <a:uFillTx/>
              <a:latin typeface="Arial"/>
            </a:endParaRPr>
          </a:p>
          <a:p>
            <a:endParaRPr b="0" lang="en-IN" sz="2100" strike="noStrike" u="none">
              <a:solidFill>
                <a:srgbClr val="000000"/>
              </a:solidFill>
              <a:effectLst/>
              <a:uFillTx/>
              <a:latin typeface="Arial"/>
            </a:endParaRPr>
          </a:p>
          <a:p>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Integral</Template>
  <TotalTime>38</TotalTime>
  <Application>LibreOffice/25.2.6.2$Windows_X86_64 LibreOffice_project/729c5bfe710f5eb71ed3bbde9e06a6065e9c6c5d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2025-11-07T23:53:13Z</dcterms:modified>
  <cp:revision>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14</vt:r8>
  </property>
</Properties>
</file>